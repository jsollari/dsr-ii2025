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  <p:sldMasterId id="2147483657" r:id="rId2"/>
  </p:sldMasterIdLst>
  <p:notesMasterIdLst>
    <p:notesMasterId r:id="rId46"/>
  </p:notesMasterIdLst>
  <p:handoutMasterIdLst>
    <p:handoutMasterId r:id="rId47"/>
  </p:handoutMasterIdLst>
  <p:sldIdLst>
    <p:sldId id="803" r:id="rId3"/>
    <p:sldId id="1387" r:id="rId4"/>
    <p:sldId id="1382" r:id="rId5"/>
    <p:sldId id="1332" r:id="rId6"/>
    <p:sldId id="1375" r:id="rId7"/>
    <p:sldId id="1384" r:id="rId8"/>
    <p:sldId id="1366" r:id="rId9"/>
    <p:sldId id="1094" r:id="rId10"/>
    <p:sldId id="1364" r:id="rId11"/>
    <p:sldId id="1369" r:id="rId12"/>
    <p:sldId id="1365" r:id="rId13"/>
    <p:sldId id="1385" r:id="rId14"/>
    <p:sldId id="1128" r:id="rId15"/>
    <p:sldId id="1076" r:id="rId16"/>
    <p:sldId id="1363" r:id="rId17"/>
    <p:sldId id="1367" r:id="rId18"/>
    <p:sldId id="1386" r:id="rId19"/>
    <p:sldId id="1271" r:id="rId20"/>
    <p:sldId id="1368" r:id="rId21"/>
    <p:sldId id="1370" r:id="rId22"/>
    <p:sldId id="1361" r:id="rId23"/>
    <p:sldId id="1371" r:id="rId24"/>
    <p:sldId id="1372" r:id="rId25"/>
    <p:sldId id="1390" r:id="rId26"/>
    <p:sldId id="1389" r:id="rId27"/>
    <p:sldId id="1388" r:id="rId28"/>
    <p:sldId id="1391" r:id="rId29"/>
    <p:sldId id="1392" r:id="rId30"/>
    <p:sldId id="1393" r:id="rId31"/>
    <p:sldId id="1394" r:id="rId32"/>
    <p:sldId id="1395" r:id="rId33"/>
    <p:sldId id="1376" r:id="rId34"/>
    <p:sldId id="1379" r:id="rId35"/>
    <p:sldId id="1377" r:id="rId36"/>
    <p:sldId id="1380" r:id="rId37"/>
    <p:sldId id="1378" r:id="rId38"/>
    <p:sldId id="1357" r:id="rId39"/>
    <p:sldId id="1327" r:id="rId40"/>
    <p:sldId id="1329" r:id="rId41"/>
    <p:sldId id="1328" r:id="rId42"/>
    <p:sldId id="1396" r:id="rId43"/>
    <p:sldId id="1383" r:id="rId44"/>
    <p:sldId id="1067" r:id="rId45"/>
  </p:sldIdLst>
  <p:sldSz cx="9144000" cy="6858000" type="screen4x3"/>
  <p:notesSz cx="6811963" cy="9942513"/>
  <p:defaultTextStyle>
    <a:defPPr>
      <a:defRPr lang="pt-PT"/>
    </a:defPPr>
    <a:lvl1pPr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5pPr>
    <a:lvl6pPr marL="22860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6pPr>
    <a:lvl7pPr marL="27432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7pPr>
    <a:lvl8pPr marL="32004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8pPr>
    <a:lvl9pPr marL="36576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4" userDrawn="1">
          <p15:clr>
            <a:srgbClr val="A4A3A4"/>
          </p15:clr>
        </p15:guide>
        <p15:guide id="2" pos="54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2">
          <p15:clr>
            <a:srgbClr val="A4A3A4"/>
          </p15:clr>
        </p15:guide>
        <p15:guide id="2" pos="214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E6C"/>
    <a:srgbClr val="FFFFCC"/>
    <a:srgbClr val="B7ECFF"/>
    <a:srgbClr val="BDFBC3"/>
    <a:srgbClr val="CCCC00"/>
    <a:srgbClr val="EDDDA1"/>
    <a:srgbClr val="BDBB5F"/>
    <a:srgbClr val="E5B9BD"/>
    <a:srgbClr val="CC301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2" autoAdjust="0"/>
    <p:restoredTop sz="93691" autoAdjust="0"/>
  </p:normalViewPr>
  <p:slideViewPr>
    <p:cSldViewPr>
      <p:cViewPr varScale="1">
        <p:scale>
          <a:sx n="75" d="100"/>
          <a:sy n="75" d="100"/>
        </p:scale>
        <p:origin x="66" y="456"/>
      </p:cViewPr>
      <p:guideLst>
        <p:guide orient="horz" pos="1344"/>
        <p:guide pos="5465"/>
      </p:guideLst>
    </p:cSldViewPr>
  </p:slideViewPr>
  <p:outlineViewPr>
    <p:cViewPr>
      <p:scale>
        <a:sx n="33" d="100"/>
        <a:sy n="33" d="100"/>
      </p:scale>
      <p:origin x="0" y="1236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-2190" y="-90"/>
      </p:cViewPr>
      <p:guideLst>
        <p:guide orient="horz" pos="3132"/>
        <p:guide pos="214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8536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8536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786E3228-BDA5-4C88-B65C-28A18C301E9B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74418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8536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245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0" y="744538"/>
            <a:ext cx="4970463" cy="372903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1197" y="4722377"/>
            <a:ext cx="5449570" cy="4475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PT" noProof="0"/>
              <a:t>Click to edit Master text styles</a:t>
            </a:r>
          </a:p>
          <a:p>
            <a:pPr lvl="1"/>
            <a:r>
              <a:rPr lang="pt-PT" noProof="0"/>
              <a:t>Second level</a:t>
            </a:r>
          </a:p>
          <a:p>
            <a:pPr lvl="2"/>
            <a:r>
              <a:rPr lang="pt-PT" noProof="0"/>
              <a:t>Third level</a:t>
            </a:r>
          </a:p>
          <a:p>
            <a:pPr lvl="3"/>
            <a:r>
              <a:rPr lang="pt-PT" noProof="0"/>
              <a:t>Fourth level</a:t>
            </a:r>
          </a:p>
          <a:p>
            <a:pPr lvl="4"/>
            <a:r>
              <a:rPr lang="pt-PT" noProof="0"/>
              <a:t>Fifth level</a:t>
            </a:r>
          </a:p>
        </p:txBody>
      </p:sp>
      <p:sp>
        <p:nvSpPr>
          <p:cNvPr id="1331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8536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5705EB50-1723-4F02-82E6-3547F8722922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364430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70803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2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8211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3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227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664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07265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372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64646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8404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806852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6361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682133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264112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514688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74295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3"/>
          <p:cNvSpPr txBox="1">
            <a:spLocks noChangeArrowheads="1"/>
          </p:cNvSpPr>
          <p:nvPr userDrawn="1"/>
        </p:nvSpPr>
        <p:spPr bwMode="auto">
          <a:xfrm>
            <a:off x="8325294" y="6163979"/>
            <a:ext cx="720000" cy="504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l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      /28</a:t>
            </a:r>
          </a:p>
        </p:txBody>
      </p:sp>
      <p:sp>
        <p:nvSpPr>
          <p:cNvPr id="11" name="Text Box 13"/>
          <p:cNvSpPr txBox="1">
            <a:spLocks noChangeArrowheads="1"/>
          </p:cNvSpPr>
          <p:nvPr userDrawn="1"/>
        </p:nvSpPr>
        <p:spPr bwMode="auto">
          <a:xfrm>
            <a:off x="3779912" y="6164408"/>
            <a:ext cx="2808000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Data </a:t>
            </a:r>
            <a:r>
              <a:rPr lang="pt-PT" sz="1200" dirty="0" err="1">
                <a:solidFill>
                  <a:schemeClr val="bg2"/>
                </a:solidFill>
                <a:latin typeface="Humnst777 BT" pitchFamily="34" charset="0"/>
              </a:rPr>
              <a:t>Science</a:t>
            </a:r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com R - II</a:t>
            </a:r>
          </a:p>
        </p:txBody>
      </p:sp>
      <p:sp>
        <p:nvSpPr>
          <p:cNvPr id="12" name="Text Box 13"/>
          <p:cNvSpPr txBox="1">
            <a:spLocks noChangeArrowheads="1"/>
          </p:cNvSpPr>
          <p:nvPr userDrawn="1"/>
        </p:nvSpPr>
        <p:spPr bwMode="auto">
          <a:xfrm>
            <a:off x="6587911" y="6176009"/>
            <a:ext cx="1670517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Setembro 2024</a:t>
            </a:r>
          </a:p>
        </p:txBody>
      </p:sp>
      <p:sp>
        <p:nvSpPr>
          <p:cNvPr id="13" name="Text Box 34"/>
          <p:cNvSpPr txBox="1">
            <a:spLocks noChangeArrowheads="1"/>
          </p:cNvSpPr>
          <p:nvPr userDrawn="1"/>
        </p:nvSpPr>
        <p:spPr bwMode="auto">
          <a:xfrm flipV="1">
            <a:off x="8027988" y="6215453"/>
            <a:ext cx="4699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sz="2400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755822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28305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sv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1"/>
          <p:cNvSpPr>
            <a:spLocks noChangeArrowheads="1"/>
          </p:cNvSpPr>
          <p:nvPr/>
        </p:nvSpPr>
        <p:spPr bwMode="auto">
          <a:xfrm>
            <a:off x="468313" y="765175"/>
            <a:ext cx="215900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757238" y="765175"/>
            <a:ext cx="287337" cy="215900"/>
          </a:xfrm>
          <a:prstGeom prst="rect">
            <a:avLst/>
          </a:prstGeom>
          <a:solidFill>
            <a:srgbClr val="CC301F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r">
              <a:spcBef>
                <a:spcPct val="0"/>
              </a:spcBef>
              <a:defRPr/>
            </a:pPr>
            <a:endParaRPr lang="en-US" sz="180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7" name="Rectangle 13"/>
          <p:cNvSpPr>
            <a:spLocks noChangeArrowheads="1"/>
          </p:cNvSpPr>
          <p:nvPr/>
        </p:nvSpPr>
        <p:spPr bwMode="auto">
          <a:xfrm>
            <a:off x="1116013" y="765175"/>
            <a:ext cx="865187" cy="215900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038" name="Rectangle 14"/>
          <p:cNvSpPr>
            <a:spLocks noChangeArrowheads="1"/>
          </p:cNvSpPr>
          <p:nvPr/>
        </p:nvSpPr>
        <p:spPr bwMode="auto">
          <a:xfrm>
            <a:off x="2052638" y="765175"/>
            <a:ext cx="576262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039" name="Rectangle 15"/>
          <p:cNvSpPr>
            <a:spLocks noChangeArrowheads="1"/>
          </p:cNvSpPr>
          <p:nvPr/>
        </p:nvSpPr>
        <p:spPr bwMode="auto">
          <a:xfrm>
            <a:off x="828675" y="909638"/>
            <a:ext cx="576263" cy="2159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pic>
        <p:nvPicPr>
          <p:cNvPr id="1031" name="Picture 17" descr="Logo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50825" y="6237288"/>
            <a:ext cx="3635375" cy="422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Proposta da CCDR Algarve ao Instituto Nacional de Estatística (INE) | RAARA">
            <a:extLst>
              <a:ext uri="{FF2B5EF4-FFF2-40B4-BE49-F238E27FC236}">
                <a16:creationId xmlns:a16="http://schemas.microsoft.com/office/drawing/2014/main" id="{3B4B0A3F-174F-9975-3A0D-CD0A3F6D16C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2" b="27068"/>
          <a:stretch/>
        </p:blipFill>
        <p:spPr bwMode="auto">
          <a:xfrm>
            <a:off x="179512" y="260648"/>
            <a:ext cx="1872889" cy="66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758294-BA60-9AEB-86AB-B100BBBA7FE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57186" y="6203895"/>
            <a:ext cx="2350294" cy="4762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FB409DF-DE00-B517-2DF9-54D162DA592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6021" y="6082427"/>
            <a:ext cx="4067870" cy="586933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2F7509D5-5A88-C501-CAAA-043034EB786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73891" y="6226318"/>
            <a:ext cx="712923" cy="34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832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25" userDrawn="1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rstudio.github.io/cheatsheets/html/data-transformation.html" TargetMode="External"/><Relationship Id="rId2" Type="http://schemas.openxmlformats.org/officeDocument/2006/relationships/hyperlink" Target="https://dplyr.tidyverse.org/reference/index.html" TargetMode="Externa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rstudio.github.io/cheatsheets/html/data-visualization.html" TargetMode="External"/><Relationship Id="rId2" Type="http://schemas.openxmlformats.org/officeDocument/2006/relationships/hyperlink" Target="https://ggplot2.tidyverse.org/reference/index.html" TargetMode="Externa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rpubs.com/abigailpayne/743827" TargetMode="External"/><Relationship Id="rId2" Type="http://schemas.openxmlformats.org/officeDocument/2006/relationships/hyperlink" Target="https://www.datacamp.com/tutorial/linear-regression-R" TargetMode="Externa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-bloggers.com/" TargetMode="External"/><Relationship Id="rId3" Type="http://schemas.openxmlformats.org/officeDocument/2006/relationships/hyperlink" Target="https://www.tidyverse.org/" TargetMode="External"/><Relationship Id="rId7" Type="http://schemas.openxmlformats.org/officeDocument/2006/relationships/hyperlink" Target="https://stackoverflow.com/" TargetMode="External"/><Relationship Id="rId2" Type="http://schemas.openxmlformats.org/officeDocument/2006/relationships/hyperlink" Target="https://www.r-project.org/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r-project.org/help.html" TargetMode="External"/><Relationship Id="rId5" Type="http://schemas.openxmlformats.org/officeDocument/2006/relationships/hyperlink" Target="https://education.rstudio.com/learn/" TargetMode="External"/><Relationship Id="rId10" Type="http://schemas.openxmlformats.org/officeDocument/2006/relationships/image" Target="../media/image19.png"/><Relationship Id="rId4" Type="http://schemas.openxmlformats.org/officeDocument/2006/relationships/hyperlink" Target="https://www.tidymodels.org/" TargetMode="External"/><Relationship Id="rId9" Type="http://schemas.openxmlformats.org/officeDocument/2006/relationships/hyperlink" Target="https://hour.ine.pt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r4ds.hadley.nz/" TargetMode="External"/><Relationship Id="rId2" Type="http://schemas.openxmlformats.org/officeDocument/2006/relationships/hyperlink" Target="https://r4ds.had.co.nz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ângulo 4">
            <a:extLst>
              <a:ext uri="{FF2B5EF4-FFF2-40B4-BE49-F238E27FC236}">
                <a16:creationId xmlns:a16="http://schemas.microsoft.com/office/drawing/2014/main" id="{DE0ABF8F-D2B3-EC60-474F-46A54BA68A0E}"/>
              </a:ext>
            </a:extLst>
          </p:cNvPr>
          <p:cNvSpPr/>
          <p:nvPr/>
        </p:nvSpPr>
        <p:spPr>
          <a:xfrm>
            <a:off x="1321666" y="2140905"/>
            <a:ext cx="6500668" cy="757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48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Primeira Parte</a:t>
            </a:r>
          </a:p>
        </p:txBody>
      </p:sp>
      <p:sp>
        <p:nvSpPr>
          <p:cNvPr id="8" name="Rectângulo 5">
            <a:extLst>
              <a:ext uri="{FF2B5EF4-FFF2-40B4-BE49-F238E27FC236}">
                <a16:creationId xmlns:a16="http://schemas.microsoft.com/office/drawing/2014/main" id="{8BCFD7A4-841C-F5D6-56F5-3DA59592295D}"/>
              </a:ext>
            </a:extLst>
          </p:cNvPr>
          <p:cNvSpPr/>
          <p:nvPr/>
        </p:nvSpPr>
        <p:spPr>
          <a:xfrm>
            <a:off x="2545961" y="4070517"/>
            <a:ext cx="40520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pt-PT" sz="2000" b="1" dirty="0">
                <a:solidFill>
                  <a:srgbClr val="4D4D4D"/>
                </a:solidFill>
                <a:latin typeface="Century Gothic" panose="020B0502020202020204" pitchFamily="34" charset="0"/>
              </a:rPr>
              <a:t>Pedro Sousa e </a:t>
            </a:r>
            <a:r>
              <a:rPr lang="pt-PT" sz="2000" b="1" u="sng" dirty="0">
                <a:solidFill>
                  <a:srgbClr val="4D4D4D"/>
                </a:solidFill>
                <a:latin typeface="Century Gothic" panose="020B0502020202020204" pitchFamily="34" charset="0"/>
              </a:rPr>
              <a:t>João Lopes</a:t>
            </a:r>
          </a:p>
        </p:txBody>
      </p:sp>
      <p:sp>
        <p:nvSpPr>
          <p:cNvPr id="9" name="Rectângulo 8">
            <a:extLst>
              <a:ext uri="{FF2B5EF4-FFF2-40B4-BE49-F238E27FC236}">
                <a16:creationId xmlns:a16="http://schemas.microsoft.com/office/drawing/2014/main" id="{B5C31F85-B977-D2FF-C53D-8BC887AD2124}"/>
              </a:ext>
            </a:extLst>
          </p:cNvPr>
          <p:cNvSpPr/>
          <p:nvPr/>
        </p:nvSpPr>
        <p:spPr>
          <a:xfrm>
            <a:off x="3563888" y="4778256"/>
            <a:ext cx="216024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pt-PT" sz="2000" dirty="0">
                <a:solidFill>
                  <a:srgbClr val="4D4D4D"/>
                </a:solidFill>
                <a:latin typeface="Century Gothic" panose="020B0502020202020204" pitchFamily="34" charset="0"/>
              </a:rPr>
              <a:t>Dezembro 2025</a:t>
            </a:r>
          </a:p>
        </p:txBody>
      </p:sp>
      <p:sp>
        <p:nvSpPr>
          <p:cNvPr id="10" name="Rectângulo 4">
            <a:extLst>
              <a:ext uri="{FF2B5EF4-FFF2-40B4-BE49-F238E27FC236}">
                <a16:creationId xmlns:a16="http://schemas.microsoft.com/office/drawing/2014/main" id="{B96B270A-36D4-C846-DE6F-8B19A4B374BE}"/>
              </a:ext>
            </a:extLst>
          </p:cNvPr>
          <p:cNvSpPr/>
          <p:nvPr/>
        </p:nvSpPr>
        <p:spPr>
          <a:xfrm>
            <a:off x="1321666" y="1196752"/>
            <a:ext cx="6500668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32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Data </a:t>
            </a:r>
            <a:r>
              <a:rPr lang="pt-PT" sz="3200" dirty="0" err="1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Science</a:t>
            </a:r>
            <a:r>
              <a:rPr lang="pt-PT" sz="32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 com R - 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DFC7A314-AAAE-806C-7A7D-BF773D16BAF1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2441703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Line 10"/>
          <p:cNvSpPr>
            <a:spLocks noChangeShapeType="1"/>
          </p:cNvSpPr>
          <p:nvPr/>
        </p:nvSpPr>
        <p:spPr bwMode="auto">
          <a:xfrm flipH="1">
            <a:off x="539552" y="1556792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5" name="Line 11"/>
          <p:cNvSpPr>
            <a:spLocks noChangeShapeType="1"/>
          </p:cNvSpPr>
          <p:nvPr/>
        </p:nvSpPr>
        <p:spPr bwMode="auto">
          <a:xfrm>
            <a:off x="1187252" y="1556792"/>
            <a:ext cx="372" cy="234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1220590" y="1556792"/>
            <a:ext cx="4968875" cy="232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</a:t>
            </a:r>
            <a:r>
              <a:rPr lang="pt-PT" sz="2500" b="1" dirty="0">
                <a:solidFill>
                  <a:srgbClr val="003E6C"/>
                </a:solidFill>
              </a:rPr>
              <a:t>Transformação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  <a:endParaRPr lang="pt-PT" sz="2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</a:t>
            </a:r>
            <a:r>
              <a:rPr lang="pt-PT" sz="2500" dirty="0">
                <a:solidFill>
                  <a:schemeClr val="tx1"/>
                </a:solidFill>
                <a:latin typeface="Humnst777 BT" pitchFamily="34" charset="0"/>
              </a:rPr>
              <a:t>Relatórios e apresentações 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Comunicação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E726C6CB-0249-7F60-9345-744BA08E109D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728427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1187624" y="1557338"/>
            <a:ext cx="4968875" cy="461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chemeClr val="accent2"/>
                </a:solidFill>
                <a:latin typeface="Humnst777 BT" pitchFamily="34" charset="0"/>
              </a:rPr>
              <a:t>  </a:t>
            </a: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Transformação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Fatores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Valores em falta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Padrões e Modelos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modelo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1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8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1E63F42-DEAC-47C1-9ADA-B513FA96B97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807718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1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1934" y="4941168"/>
            <a:ext cx="493544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H. Wickham M. Çetinkaya-Rundel &amp; G. Grolemund (2023)</a:t>
            </a:r>
            <a:endParaRPr lang="pt-PT" sz="1600" dirty="0">
              <a:solidFill>
                <a:schemeClr val="tx1"/>
              </a:solidFill>
            </a:endParaRPr>
          </a:p>
        </p:txBody>
      </p:sp>
      <p:pic>
        <p:nvPicPr>
          <p:cNvPr id="3" name="Picture 2" descr="A diagram of a model&#10;&#10;Description automatically generated">
            <a:extLst>
              <a:ext uri="{FF2B5EF4-FFF2-40B4-BE49-F238E27FC236}">
                <a16:creationId xmlns:a16="http://schemas.microsoft.com/office/drawing/2014/main" id="{026DF472-C5F6-5267-7655-957222DCB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39" y="2132617"/>
            <a:ext cx="7334722" cy="2477419"/>
          </a:xfrm>
          <a:prstGeom prst="rect">
            <a:avLst/>
          </a:prstGeom>
        </p:spPr>
      </p:pic>
      <p:sp>
        <p:nvSpPr>
          <p:cNvPr id="4" name="Text Box 376">
            <a:extLst>
              <a:ext uri="{FF2B5EF4-FFF2-40B4-BE49-F238E27FC236}">
                <a16:creationId xmlns:a16="http://schemas.microsoft.com/office/drawing/2014/main" id="{F028F56D-0FE2-9788-2090-540A0D5D7B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08731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Esquema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7492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694172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1187624" y="1557338"/>
            <a:ext cx="4968875" cy="4683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Contagens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numéricas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genéricas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Estatísticas descritivas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Fatores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Operações básicas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Base de dados </a:t>
            </a:r>
            <a:r>
              <a:rPr lang="pt-PT" sz="1600" dirty="0" err="1">
                <a:solidFill>
                  <a:srgbClr val="003E6C"/>
                </a:solidFill>
                <a:latin typeface="Humnst777 BT" pitchFamily="34" charset="0"/>
              </a:rPr>
              <a:t>gss_cat</a:t>
            </a: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ordem dos fatores (c/exercícios)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os fatores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Comparações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Álgebra booleana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Sumarização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condicionais  (c/ exercícios)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1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8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4128" y="1557338"/>
            <a:ext cx="2606414" cy="4683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09:30 - 11:00 e 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14:00 - 15:00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15:15 - 17:00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646FA9A-6F4F-FA20-1D54-4A91A6C310D4}"/>
              </a:ext>
            </a:extLst>
          </p:cNvPr>
          <p:cNvCxnSpPr/>
          <p:nvPr/>
        </p:nvCxnSpPr>
        <p:spPr bwMode="auto">
          <a:xfrm>
            <a:off x="3131840" y="1719858"/>
            <a:ext cx="252028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4D932DB-573A-A85A-DAAA-CD28EE4AC2FB}"/>
              </a:ext>
            </a:extLst>
          </p:cNvPr>
          <p:cNvCxnSpPr/>
          <p:nvPr/>
        </p:nvCxnSpPr>
        <p:spPr bwMode="auto">
          <a:xfrm>
            <a:off x="2195736" y="3265934"/>
            <a:ext cx="4752528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2E306B-6634-4987-5545-F53328AD7F9E}"/>
              </a:ext>
            </a:extLst>
          </p:cNvPr>
          <p:cNvCxnSpPr/>
          <p:nvPr/>
        </p:nvCxnSpPr>
        <p:spPr bwMode="auto">
          <a:xfrm>
            <a:off x="2915816" y="4797152"/>
            <a:ext cx="4032448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4216430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540000" y="2160000"/>
            <a:ext cx="8064000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arrange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Ordenar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mutate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novas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summarize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Calcular estatísticas descritivas.</a:t>
            </a:r>
            <a:endParaRPr lang="pt-PT" sz="20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group_by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grupos de observações para manipulação.</a:t>
            </a: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cs typeface="Courier New" panose="02070309020205020404" pitchFamily="49" charset="0"/>
                <a:hlinkClick r:id="rId2"/>
              </a:rPr>
              <a:t>https://dplyr.tidyverse.org/reference/index.html</a:t>
            </a: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  <a:cs typeface="Courier New" panose="02070309020205020404" pitchFamily="49" charset="0"/>
                <a:hlinkClick r:id="rId3"/>
              </a:rPr>
              <a:t>https://rstudio.github.io/cheatsheets/html/data-transformation.html</a:t>
            </a:r>
            <a:endParaRPr lang="pt-PT" sz="2000" dirty="0">
              <a:solidFill>
                <a:schemeClr val="tx1"/>
              </a:solidFill>
              <a:latin typeface="Humnst777 BT"/>
              <a:cs typeface="Courier New" panose="02070309020205020404" pitchFamily="49" charset="0"/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F0DEADA4-5A5D-024A-AC90-C48442A12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dplyer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632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dplyer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tidyverse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select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select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",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and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|&gt;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group_by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group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sumarize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) |&gt;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arrange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desc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arrange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284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dplyer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# A 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 5 × 3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cut   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1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Fair             3.51      1.03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2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Premium          3.45      0.889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3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Good             3.41      0.847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4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Very Good        3.39      0.806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5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Ideal            3.32      0.702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5955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3170214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1187624" y="1557338"/>
            <a:ext cx="4968875" cy="3752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típicos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invulgares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Valores em falta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Explícitos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Implícitos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Fatores e grupos vazios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Uma categórica e uma numérica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categóricas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numéricas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Padrões e modelos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1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8914" y="1557338"/>
            <a:ext cx="372" cy="37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4128" y="1557338"/>
            <a:ext cx="2606414" cy="37651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09:30 - 11:00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14:00 - 16:00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6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16:15 - 17:00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512755-F367-1548-B162-5DC204BF1B06}"/>
              </a:ext>
            </a:extLst>
          </p:cNvPr>
          <p:cNvCxnSpPr/>
          <p:nvPr/>
        </p:nvCxnSpPr>
        <p:spPr bwMode="auto">
          <a:xfrm>
            <a:off x="2339752" y="1720850"/>
            <a:ext cx="4608512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6956FD-E17A-83F9-834B-BF0F5FA24E2C}"/>
              </a:ext>
            </a:extLst>
          </p:cNvPr>
          <p:cNvCxnSpPr/>
          <p:nvPr/>
        </p:nvCxnSpPr>
        <p:spPr bwMode="auto">
          <a:xfrm>
            <a:off x="2987824" y="2636912"/>
            <a:ext cx="396044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EDCD260-5328-17D7-1EB9-CFCE3297C61B}"/>
              </a:ext>
            </a:extLst>
          </p:cNvPr>
          <p:cNvCxnSpPr/>
          <p:nvPr/>
        </p:nvCxnSpPr>
        <p:spPr bwMode="auto">
          <a:xfrm>
            <a:off x="2483768" y="3861048"/>
            <a:ext cx="446449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E781C2F-EA98-40B9-BFCA-B32FC0949BE4}"/>
              </a:ext>
            </a:extLst>
          </p:cNvPr>
          <p:cNvCxnSpPr/>
          <p:nvPr/>
        </p:nvCxnSpPr>
        <p:spPr bwMode="auto">
          <a:xfrm>
            <a:off x="3203848" y="5104234"/>
            <a:ext cx="374441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307517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7415" name="Text Box 376"/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540000" y="2160000"/>
            <a:ext cx="7920432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Aesthetic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mapping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aes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Geometric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object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geom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Statistical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transformation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stat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Scale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Themes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</a:t>
            </a:r>
          </a:p>
          <a:p>
            <a:pPr marL="342900" indent="-342900"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https://ggplot2.tidyverse.org/reference/index.html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https://rstudio.github.io/cheatsheets/html/data-visualization.html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0184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set.seed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1984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“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slice_sample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500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sample for 500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per "cut"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aesthetics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mapping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alpha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0.1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geometric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object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statistical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transformation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formula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 + I(x^2) + I(x^3)"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se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scale_x_continuous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x-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scale_y_continuous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y-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labs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Weight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"Price"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"Cut"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labels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theme_minimal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change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theme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658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with lines and dots&#10;&#10;Description automatically generated with medium confidence">
            <a:extLst>
              <a:ext uri="{FF2B5EF4-FFF2-40B4-BE49-F238E27FC236}">
                <a16:creationId xmlns:a16="http://schemas.microsoft.com/office/drawing/2014/main" id="{5B2E28D7-2814-1A37-EA2B-9400B4741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845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9329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E39B369C-2491-251B-2DFE-4302AB7FD700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355362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1187624" y="1557338"/>
            <a:ext cx="4968875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Usar modelo para previsão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>
                <a:solidFill>
                  <a:srgbClr val="003E6C"/>
                </a:solidFill>
                <a:latin typeface="Humnst777 BT" pitchFamily="34" charset="0"/>
              </a:rPr>
              <a:t> Explorar 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Avaliar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ajustar modelo 1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ajustar modelo 2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Avaliar o melhor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1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8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4128" y="1557338"/>
            <a:ext cx="2606414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09:30 - 11:00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14:00 - 15:00 e 15:15 - 17:00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8E9901F-A625-5978-C8B9-7AB1C93843DE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50BDA8F-427E-C2E3-608E-F9C8D0FA1B8F}"/>
              </a:ext>
            </a:extLst>
          </p:cNvPr>
          <p:cNvCxnSpPr>
            <a:cxnSpLocks/>
          </p:cNvCxnSpPr>
          <p:nvPr/>
        </p:nvCxnSpPr>
        <p:spPr bwMode="auto">
          <a:xfrm>
            <a:off x="3563888" y="1720850"/>
            <a:ext cx="338460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113D286-9B90-2D8F-69AD-866A648854CC}"/>
              </a:ext>
            </a:extLst>
          </p:cNvPr>
          <p:cNvCxnSpPr>
            <a:cxnSpLocks/>
          </p:cNvCxnSpPr>
          <p:nvPr/>
        </p:nvCxnSpPr>
        <p:spPr bwMode="auto">
          <a:xfrm>
            <a:off x="4139952" y="2881511"/>
            <a:ext cx="280853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FBD704B-B5DA-08E4-CB7C-C3E88EC4CFFE}"/>
              </a:ext>
            </a:extLst>
          </p:cNvPr>
          <p:cNvCxnSpPr>
            <a:cxnSpLocks/>
          </p:cNvCxnSpPr>
          <p:nvPr/>
        </p:nvCxnSpPr>
        <p:spPr bwMode="auto">
          <a:xfrm>
            <a:off x="4788024" y="4634086"/>
            <a:ext cx="108012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933490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0C38659E-44D2-1F8B-7063-017B1A96E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4" name="Text Box 13">
            <a:extLst>
              <a:ext uri="{FF2B5EF4-FFF2-40B4-BE49-F238E27FC236}">
                <a16:creationId xmlns:a16="http://schemas.microsoft.com/office/drawing/2014/main" id="{46A14C6A-AFDD-4709-CE5D-8CB0945F56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000" y="2160000"/>
            <a:ext cx="7920432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Formula (e.g.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formula()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Fit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aov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Extract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parametes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residuals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predicted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Testing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assumptions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Evaluate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AIC()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logLik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…).</a:t>
            </a: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https://www.datacamp.com/tutorial/linear-regression-R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https://rpubs.com/abigailpayne/743827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sp>
        <p:nvSpPr>
          <p:cNvPr id="5" name="Text Box 376">
            <a:extLst>
              <a:ext uri="{FF2B5EF4-FFF2-40B4-BE49-F238E27FC236}">
                <a16:creationId xmlns:a16="http://schemas.microsoft.com/office/drawing/2014/main" id="{5857582F-6E27-D19A-1E20-9F3CB0B38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003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filter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 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10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out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outliers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in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slice_sample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1000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sample for 1000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observations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select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select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",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and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                   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factor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ordered 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make variable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into factor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mod1 </a:t>
            </a:r>
            <a:r>
              <a:rPr lang="pt-PT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fct_cut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specify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model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mod1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diamonds2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model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to data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summary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get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summary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0250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Residuals: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Min       1Q   Median       3Q      Max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-0.33696 -0.06961  0.00255  0.07358  0.36898 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Coefficients: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Estimate Std. Error t value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(&gt;|t|)   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(Intercept)       3.56450    0.02020 176.449  &lt; 2e-16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1.70134    0.01384 122.938  &lt; 2e-16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fct_cutGood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0.07818    0.02347   3.331 0.000896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fct_cutVery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Good  0.09259    0.02164   4.279 2.06e-05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fct_cutPremium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0.08857    0.02144   4.131 3.91e-05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fct_cutIdeal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0.12437    0.02111   5.891 5.24e-09 ***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Multiple R-squared:  0.9396,	Adjusted R-squared:  0.9393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F-statistic:  3093 on 5 and 994 DF,  p-value: &lt; 2.2e-16</a:t>
            </a:r>
          </a:p>
        </p:txBody>
      </p:sp>
      <p:sp>
        <p:nvSpPr>
          <p:cNvPr id="6" name="Text Box 376">
            <a:extLst>
              <a:ext uri="{FF2B5EF4-FFF2-40B4-BE49-F238E27FC236}">
                <a16:creationId xmlns:a16="http://schemas.microsoft.com/office/drawing/2014/main" id="{EF5EDE88-3FFB-814C-F7E8-110E916CB7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80645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Text Box 13"/>
          <p:cNvSpPr txBox="1">
            <a:spLocks noChangeArrowheads="1"/>
          </p:cNvSpPr>
          <p:nvPr/>
        </p:nvSpPr>
        <p:spPr bwMode="auto">
          <a:xfrm>
            <a:off x="540000" y="2160000"/>
            <a:ext cx="7920432" cy="27084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MLR.1 O modelo é linear nos parâmetros;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MLR.2 Amostra aleatória (e.g. não há </a:t>
            </a:r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outliers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, valores omissos aleatórios);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MLR.3 Não há </a:t>
            </a:r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multicolinearidade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 entre preditores;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MLR.4 Erro com valor esperado zero dado qualquer valor dos preditores;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MLR.5 Erro com variância constante dado qualquer valor dos preditores;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MLR.6 Erro é independente dos preditores e tem distribuição normal.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0584" y="5330099"/>
            <a:ext cx="781776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</a:rPr>
              <a:t>Wooldridge J, Introductory Econometrics: A Modern Approach, 7 ed. Thomson</a:t>
            </a:r>
            <a:endParaRPr lang="pt-PT" sz="1600" dirty="0">
              <a:solidFill>
                <a:schemeClr val="tx1"/>
              </a:solidFill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performance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</p:spTree>
    <p:extLst>
      <p:ext uri="{BB962C8B-B14F-4D97-AF65-F5344CB8AC3E}">
        <p14:creationId xmlns:p14="http://schemas.microsoft.com/office/powerpoint/2010/main" val="17916045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"performance"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check_model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check 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MLR.1 The population model is linear in the parameters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"linearity"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MLR.3 No multicollinearity between predictors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vif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MLR.5 The error has constant variance given any values of the parameters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"homogeneity"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MLR.6 The error is independent of the predictors and is normally distributed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qq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bg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bg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bg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8A4B67A1-D88D-380F-F20F-09F8E9EED9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performance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73079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graphs with blue dots&#10;&#10;Description automatically generated">
            <a:extLst>
              <a:ext uri="{FF2B5EF4-FFF2-40B4-BE49-F238E27FC236}">
                <a16:creationId xmlns:a16="http://schemas.microsoft.com/office/drawing/2014/main" id="{8EDCBB99-8BDF-E903-ABE5-ECD994B605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844" y="2127069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5" name="Text Box 376">
            <a:extLst>
              <a:ext uri="{FF2B5EF4-FFF2-40B4-BE49-F238E27FC236}">
                <a16:creationId xmlns:a16="http://schemas.microsoft.com/office/drawing/2014/main" id="{1EEBEC2F-ADA3-3BD0-9E07-422D6A4353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performance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69299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1283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with a blue line and black dots&#10;&#10;Description automatically generated">
            <a:extLst>
              <a:ext uri="{FF2B5EF4-FFF2-40B4-BE49-F238E27FC236}">
                <a16:creationId xmlns:a16="http://schemas.microsoft.com/office/drawing/2014/main" id="{FC36B86D-8204-A3A9-47C3-2DD3358840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656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334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tb_lm2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&lt;-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coef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"#F8766D"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sum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"#00BFC4"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7564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red and blue lines&#10;&#10;Description automatically generated">
            <a:extLst>
              <a:ext uri="{FF2B5EF4-FFF2-40B4-BE49-F238E27FC236}">
                <a16:creationId xmlns:a16="http://schemas.microsoft.com/office/drawing/2014/main" id="{5D490F25-C853-D2EC-10EC-2A2F1C1ADC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316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40572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pi_x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sv-SE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binomial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link=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logit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data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resp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method.args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list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family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"binomial"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geom_hline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yintercept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linetype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dashed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"gray"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0041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red and blue lines&#10;&#10;Description automatically generated">
            <a:extLst>
              <a:ext uri="{FF2B5EF4-FFF2-40B4-BE49-F238E27FC236}">
                <a16:creationId xmlns:a16="http://schemas.microsoft.com/office/drawing/2014/main" id="{E57D83E8-252F-8515-2C55-C86570D1AC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473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7988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tb_rf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ceiling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ceiling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x3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ceiling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across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as.factor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tb_rf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class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control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rpart.control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minsplit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plot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branch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margin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branch.lwd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branch.col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text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minlength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use.n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TRUE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fancy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TRUE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fwidth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fheight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8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font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93094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41FE373F-87EA-14B1-DF58-E4A335B792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2035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6096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11709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710" y="5157192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19" name="Cube 18">
            <a:extLst>
              <a:ext uri="{FF2B5EF4-FFF2-40B4-BE49-F238E27FC236}">
                <a16:creationId xmlns:a16="http://schemas.microsoft.com/office/drawing/2014/main" id="{040E1F8D-2F15-9C26-D2F4-50F7431DD571}"/>
              </a:ext>
            </a:extLst>
          </p:cNvPr>
          <p:cNvSpPr/>
          <p:nvPr/>
        </p:nvSpPr>
        <p:spPr bwMode="auto">
          <a:xfrm>
            <a:off x="2784966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0" name="Can 39">
            <a:extLst>
              <a:ext uri="{FF2B5EF4-FFF2-40B4-BE49-F238E27FC236}">
                <a16:creationId xmlns:a16="http://schemas.microsoft.com/office/drawing/2014/main" id="{BED22CE5-DCB8-6ECF-4C5D-CAC41F6152A7}"/>
              </a:ext>
            </a:extLst>
          </p:cNvPr>
          <p:cNvSpPr/>
          <p:nvPr/>
        </p:nvSpPr>
        <p:spPr bwMode="auto">
          <a:xfrm>
            <a:off x="624726" y="4293096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92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3768" y="2420888"/>
            <a:ext cx="1398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85610" y="2113111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36E2297F-3215-B168-BAC9-496B869C99A0}"/>
              </a:ext>
            </a:extLst>
          </p:cNvPr>
          <p:cNvSpPr/>
          <p:nvPr/>
        </p:nvSpPr>
        <p:spPr bwMode="auto">
          <a:xfrm>
            <a:off x="7537494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1" name="Can 53">
            <a:extLst>
              <a:ext uri="{FF2B5EF4-FFF2-40B4-BE49-F238E27FC236}">
                <a16:creationId xmlns:a16="http://schemas.microsoft.com/office/drawing/2014/main" id="{9B00B881-E7A5-8513-8F2D-B4E6961F4478}"/>
              </a:ext>
            </a:extLst>
          </p:cNvPr>
          <p:cNvSpPr>
            <a:spLocks noChangeAspect="1"/>
          </p:cNvSpPr>
          <p:nvPr/>
        </p:nvSpPr>
        <p:spPr bwMode="auto">
          <a:xfrm>
            <a:off x="7712268" y="2564904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7825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7825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9462" y="4201343"/>
            <a:ext cx="142699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7534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0496" y="3429000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73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F242DD4D-F83A-C232-0DF7-4F9E4C8A479D}"/>
              </a:ext>
            </a:extLst>
          </p:cNvPr>
          <p:cNvSpPr/>
          <p:nvPr/>
        </p:nvSpPr>
        <p:spPr bwMode="auto">
          <a:xfrm>
            <a:off x="624726" y="2492896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64695BA4-B2BB-2A3D-715C-4E6EB740FE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710" y="3284984"/>
            <a:ext cx="90922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Modelos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AAA4715D-A574-6E0E-622D-E30EC344B233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037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B92F4A4A-A680-00B0-8C4B-B0C7B2D8F8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3768" y="2132856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</p:spTree>
    <p:extLst>
      <p:ext uri="{BB962C8B-B14F-4D97-AF65-F5344CB8AC3E}">
        <p14:creationId xmlns:p14="http://schemas.microsoft.com/office/powerpoint/2010/main" val="18971890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rgbClr val="808080"/>
                </a:solidFill>
                <a:latin typeface="Humnst777 BT" pitchFamily="34" charset="0"/>
              </a:rPr>
              <a:t>20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11709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710" y="5157192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8822" y="4293096"/>
            <a:ext cx="612668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00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7698" y="4149080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3/4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1290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7698" y="5013176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8822" y="5816297"/>
            <a:ext cx="542136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3768" y="2132856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9589" y="2132856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19" name="Cube 18">
            <a:extLst>
              <a:ext uri="{FF2B5EF4-FFF2-40B4-BE49-F238E27FC236}">
                <a16:creationId xmlns:a16="http://schemas.microsoft.com/office/drawing/2014/main" id="{040E1F8D-2F15-9C26-D2F4-50F7431DD571}"/>
              </a:ext>
            </a:extLst>
          </p:cNvPr>
          <p:cNvSpPr/>
          <p:nvPr/>
        </p:nvSpPr>
        <p:spPr bwMode="auto">
          <a:xfrm>
            <a:off x="2784966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0" name="Can 39">
            <a:extLst>
              <a:ext uri="{FF2B5EF4-FFF2-40B4-BE49-F238E27FC236}">
                <a16:creationId xmlns:a16="http://schemas.microsoft.com/office/drawing/2014/main" id="{BED22CE5-DCB8-6ECF-4C5D-CAC41F6152A7}"/>
              </a:ext>
            </a:extLst>
          </p:cNvPr>
          <p:cNvSpPr/>
          <p:nvPr/>
        </p:nvSpPr>
        <p:spPr bwMode="auto">
          <a:xfrm>
            <a:off x="624726" y="4293096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1" name="Can 40">
            <a:extLst>
              <a:ext uri="{FF2B5EF4-FFF2-40B4-BE49-F238E27FC236}">
                <a16:creationId xmlns:a16="http://schemas.microsoft.com/office/drawing/2014/main" id="{72299155-0C96-F7DB-56EA-247745DEDA45}"/>
              </a:ext>
            </a:extLst>
          </p:cNvPr>
          <p:cNvSpPr>
            <a:spLocks noChangeAspect="1"/>
          </p:cNvSpPr>
          <p:nvPr/>
        </p:nvSpPr>
        <p:spPr bwMode="auto">
          <a:xfrm>
            <a:off x="1632838" y="3861048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2" name="Can 42">
            <a:extLst>
              <a:ext uri="{FF2B5EF4-FFF2-40B4-BE49-F238E27FC236}">
                <a16:creationId xmlns:a16="http://schemas.microsoft.com/office/drawing/2014/main" id="{1A4B3FF6-7DA6-7B67-73A1-37A259E643A1}"/>
              </a:ext>
            </a:extLst>
          </p:cNvPr>
          <p:cNvSpPr>
            <a:spLocks noChangeAspect="1"/>
          </p:cNvSpPr>
          <p:nvPr/>
        </p:nvSpPr>
        <p:spPr bwMode="auto">
          <a:xfrm>
            <a:off x="1632838" y="53842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92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92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7" name="Cube 26">
            <a:extLst>
              <a:ext uri="{FF2B5EF4-FFF2-40B4-BE49-F238E27FC236}">
                <a16:creationId xmlns:a16="http://schemas.microsoft.com/office/drawing/2014/main" id="{791B3B77-D984-BCA7-08A7-6C684AAD8909}"/>
              </a:ext>
            </a:extLst>
          </p:cNvPr>
          <p:cNvSpPr/>
          <p:nvPr/>
        </p:nvSpPr>
        <p:spPr bwMode="auto">
          <a:xfrm>
            <a:off x="5953318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89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6320" y="3439758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9078" y="2401143"/>
            <a:ext cx="101316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3768" y="2420888"/>
            <a:ext cx="1398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85610" y="2113111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36E2297F-3215-B168-BAC9-496B869C99A0}"/>
              </a:ext>
            </a:extLst>
          </p:cNvPr>
          <p:cNvSpPr/>
          <p:nvPr/>
        </p:nvSpPr>
        <p:spPr bwMode="auto">
          <a:xfrm>
            <a:off x="7537494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1" name="Can 53">
            <a:extLst>
              <a:ext uri="{FF2B5EF4-FFF2-40B4-BE49-F238E27FC236}">
                <a16:creationId xmlns:a16="http://schemas.microsoft.com/office/drawing/2014/main" id="{9B00B881-E7A5-8513-8F2D-B4E6961F4478}"/>
              </a:ext>
            </a:extLst>
          </p:cNvPr>
          <p:cNvSpPr>
            <a:spLocks noChangeAspect="1"/>
          </p:cNvSpPr>
          <p:nvPr/>
        </p:nvSpPr>
        <p:spPr bwMode="auto">
          <a:xfrm>
            <a:off x="7712268" y="2564904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7825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7825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9462" y="4201343"/>
            <a:ext cx="142699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7534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0496" y="3429000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73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D0A47A3A-CE2D-550C-3B05-B90C118A9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710" y="3284984"/>
            <a:ext cx="90922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Modelos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E605F218-E992-B973-F010-51972182FE59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037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8" name="Cube 27">
            <a:extLst>
              <a:ext uri="{FF2B5EF4-FFF2-40B4-BE49-F238E27FC236}">
                <a16:creationId xmlns:a16="http://schemas.microsoft.com/office/drawing/2014/main" id="{E944B7E8-777B-5E32-4B4B-2BDF22A6CBB3}"/>
              </a:ext>
            </a:extLst>
          </p:cNvPr>
          <p:cNvSpPr/>
          <p:nvPr/>
        </p:nvSpPr>
        <p:spPr bwMode="auto">
          <a:xfrm>
            <a:off x="624726" y="2492896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09342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11709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B128C0FD-79D1-FCE6-FDFF-91D8CF6CB86B}"/>
              </a:ext>
            </a:extLst>
          </p:cNvPr>
          <p:cNvSpPr/>
          <p:nvPr/>
        </p:nvSpPr>
        <p:spPr bwMode="auto">
          <a:xfrm>
            <a:off x="624726" y="2492896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DEF3CD51-7FAF-4DD5-E79B-E80D897F783F}"/>
              </a:ext>
            </a:extLst>
          </p:cNvPr>
          <p:cNvSpPr/>
          <p:nvPr/>
        </p:nvSpPr>
        <p:spPr bwMode="auto">
          <a:xfrm>
            <a:off x="1128782" y="2564904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710" y="5157192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8822" y="4293096"/>
            <a:ext cx="612668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00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7698" y="4149080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2/4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1290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7698" y="5013176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8822" y="5816297"/>
            <a:ext cx="542136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3768" y="2132856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9589" y="2132856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18" name="Text Box 29">
            <a:extLst>
              <a:ext uri="{FF2B5EF4-FFF2-40B4-BE49-F238E27FC236}">
                <a16:creationId xmlns:a16="http://schemas.microsoft.com/office/drawing/2014/main" id="{B41A5F79-8C90-9F58-62AB-A63B8D7977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85610" y="2113111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19" name="Cube 18">
            <a:extLst>
              <a:ext uri="{FF2B5EF4-FFF2-40B4-BE49-F238E27FC236}">
                <a16:creationId xmlns:a16="http://schemas.microsoft.com/office/drawing/2014/main" id="{040E1F8D-2F15-9C26-D2F4-50F7431DD571}"/>
              </a:ext>
            </a:extLst>
          </p:cNvPr>
          <p:cNvSpPr/>
          <p:nvPr/>
        </p:nvSpPr>
        <p:spPr bwMode="auto">
          <a:xfrm>
            <a:off x="2784966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0" name="Can 39">
            <a:extLst>
              <a:ext uri="{FF2B5EF4-FFF2-40B4-BE49-F238E27FC236}">
                <a16:creationId xmlns:a16="http://schemas.microsoft.com/office/drawing/2014/main" id="{BED22CE5-DCB8-6ECF-4C5D-CAC41F6152A7}"/>
              </a:ext>
            </a:extLst>
          </p:cNvPr>
          <p:cNvSpPr/>
          <p:nvPr/>
        </p:nvSpPr>
        <p:spPr bwMode="auto">
          <a:xfrm>
            <a:off x="624726" y="4293096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1" name="Can 40">
            <a:extLst>
              <a:ext uri="{FF2B5EF4-FFF2-40B4-BE49-F238E27FC236}">
                <a16:creationId xmlns:a16="http://schemas.microsoft.com/office/drawing/2014/main" id="{72299155-0C96-F7DB-56EA-247745DEDA45}"/>
              </a:ext>
            </a:extLst>
          </p:cNvPr>
          <p:cNvSpPr>
            <a:spLocks noChangeAspect="1"/>
          </p:cNvSpPr>
          <p:nvPr/>
        </p:nvSpPr>
        <p:spPr bwMode="auto">
          <a:xfrm>
            <a:off x="1632838" y="3861048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2" name="Can 42">
            <a:extLst>
              <a:ext uri="{FF2B5EF4-FFF2-40B4-BE49-F238E27FC236}">
                <a16:creationId xmlns:a16="http://schemas.microsoft.com/office/drawing/2014/main" id="{1A4B3FF6-7DA6-7B67-73A1-37A259E643A1}"/>
              </a:ext>
            </a:extLst>
          </p:cNvPr>
          <p:cNvSpPr>
            <a:spLocks noChangeAspect="1"/>
          </p:cNvSpPr>
          <p:nvPr/>
        </p:nvSpPr>
        <p:spPr bwMode="auto">
          <a:xfrm>
            <a:off x="1632838" y="53842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3" name="Text Box 6">
            <a:extLst>
              <a:ext uri="{FF2B5EF4-FFF2-40B4-BE49-F238E27FC236}">
                <a16:creationId xmlns:a16="http://schemas.microsoft.com/office/drawing/2014/main" id="{344AECC9-D6E1-CAD0-9B33-E727BD767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710" y="3284984"/>
            <a:ext cx="90922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Modelos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92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B19F5C67-08C8-319F-4165-BC6D2A66B37A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037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92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7" name="Cube 26">
            <a:extLst>
              <a:ext uri="{FF2B5EF4-FFF2-40B4-BE49-F238E27FC236}">
                <a16:creationId xmlns:a16="http://schemas.microsoft.com/office/drawing/2014/main" id="{791B3B77-D984-BCA7-08A7-6C684AAD8909}"/>
              </a:ext>
            </a:extLst>
          </p:cNvPr>
          <p:cNvSpPr/>
          <p:nvPr/>
        </p:nvSpPr>
        <p:spPr bwMode="auto">
          <a:xfrm>
            <a:off x="5953318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8" name="Cube 27">
            <a:extLst>
              <a:ext uri="{FF2B5EF4-FFF2-40B4-BE49-F238E27FC236}">
                <a16:creationId xmlns:a16="http://schemas.microsoft.com/office/drawing/2014/main" id="{54189133-DFF0-B772-C37D-07C4991B3374}"/>
              </a:ext>
            </a:extLst>
          </p:cNvPr>
          <p:cNvSpPr/>
          <p:nvPr/>
        </p:nvSpPr>
        <p:spPr bwMode="auto">
          <a:xfrm>
            <a:off x="7537494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9" name="Line 31">
            <a:extLst>
              <a:ext uri="{FF2B5EF4-FFF2-40B4-BE49-F238E27FC236}">
                <a16:creationId xmlns:a16="http://schemas.microsoft.com/office/drawing/2014/main" id="{BDD0B19B-E52D-7B6D-089C-D0A79C122F3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33038" y="3573016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89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1" name="Can 53">
            <a:extLst>
              <a:ext uri="{FF2B5EF4-FFF2-40B4-BE49-F238E27FC236}">
                <a16:creationId xmlns:a16="http://schemas.microsoft.com/office/drawing/2014/main" id="{8CE6CCBE-9F4B-3326-D325-513090015111}"/>
              </a:ext>
            </a:extLst>
          </p:cNvPr>
          <p:cNvSpPr>
            <a:spLocks noChangeAspect="1"/>
          </p:cNvSpPr>
          <p:nvPr/>
        </p:nvSpPr>
        <p:spPr bwMode="auto">
          <a:xfrm>
            <a:off x="7712268" y="2564904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2" name="Line 31">
            <a:extLst>
              <a:ext uri="{FF2B5EF4-FFF2-40B4-BE49-F238E27FC236}">
                <a16:creationId xmlns:a16="http://schemas.microsoft.com/office/drawing/2014/main" id="{E0FF1C8A-9FFF-6DDF-9688-C92C47BCF60C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7825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F866C931-6E0D-F5B6-CDE2-5D11EA0D9527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7825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Box 6">
            <a:extLst>
              <a:ext uri="{FF2B5EF4-FFF2-40B4-BE49-F238E27FC236}">
                <a16:creationId xmlns:a16="http://schemas.microsoft.com/office/drawing/2014/main" id="{EFA1D60F-ACD2-6094-4E43-0C8DBD52E2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9462" y="4201343"/>
            <a:ext cx="142699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35" name="Text Box 6">
            <a:extLst>
              <a:ext uri="{FF2B5EF4-FFF2-40B4-BE49-F238E27FC236}">
                <a16:creationId xmlns:a16="http://schemas.microsoft.com/office/drawing/2014/main" id="{EAB0F8CB-C056-2ED0-7E7F-2C564C484B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7534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36" name="Line 31">
            <a:extLst>
              <a:ext uri="{FF2B5EF4-FFF2-40B4-BE49-F238E27FC236}">
                <a16:creationId xmlns:a16="http://schemas.microsoft.com/office/drawing/2014/main" id="{CE70F70C-E00A-5EAE-8819-239A52BD7719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3433038" y="3717032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6320" y="3439758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38" name="Text Box 29">
            <a:extLst>
              <a:ext uri="{FF2B5EF4-FFF2-40B4-BE49-F238E27FC236}">
                <a16:creationId xmlns:a16="http://schemas.microsoft.com/office/drawing/2014/main" id="{7670ADD0-9CB7-3FE8-F83E-EA37F9D291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0496" y="3429000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0" name="Text Box 29">
            <a:extLst>
              <a:ext uri="{FF2B5EF4-FFF2-40B4-BE49-F238E27FC236}">
                <a16:creationId xmlns:a16="http://schemas.microsoft.com/office/drawing/2014/main" id="{ACCB09BC-7D92-EF3D-62BA-F3F5C888E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41801" y="2132856"/>
            <a:ext cx="120462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Afinação</a:t>
            </a:r>
          </a:p>
        </p:txBody>
      </p:sp>
      <p:sp>
        <p:nvSpPr>
          <p:cNvPr id="41" name="Text Box 29">
            <a:extLst>
              <a:ext uri="{FF2B5EF4-FFF2-40B4-BE49-F238E27FC236}">
                <a16:creationId xmlns:a16="http://schemas.microsoft.com/office/drawing/2014/main" id="{FB0029D4-6753-F597-575A-41BD503F1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8822" y="5085184"/>
            <a:ext cx="88517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validação</a:t>
            </a:r>
          </a:p>
        </p:txBody>
      </p:sp>
      <p:sp>
        <p:nvSpPr>
          <p:cNvPr id="42" name="Can 64">
            <a:extLst>
              <a:ext uri="{FF2B5EF4-FFF2-40B4-BE49-F238E27FC236}">
                <a16:creationId xmlns:a16="http://schemas.microsoft.com/office/drawing/2014/main" id="{F33A9CD8-83E3-DA78-6740-DA52B68F9D62}"/>
              </a:ext>
            </a:extLst>
          </p:cNvPr>
          <p:cNvSpPr>
            <a:spLocks noChangeAspect="1"/>
          </p:cNvSpPr>
          <p:nvPr/>
        </p:nvSpPr>
        <p:spPr bwMode="auto">
          <a:xfrm>
            <a:off x="1632838" y="4653136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43" name="Line 31">
            <a:extLst>
              <a:ext uri="{FF2B5EF4-FFF2-40B4-BE49-F238E27FC236}">
                <a16:creationId xmlns:a16="http://schemas.microsoft.com/office/drawing/2014/main" id="{29DF4926-8DD5-2248-E3F7-C253B2F09DF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00790" y="4869160"/>
            <a:ext cx="36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4" name="Text Box 26">
            <a:extLst>
              <a:ext uri="{FF2B5EF4-FFF2-40B4-BE49-F238E27FC236}">
                <a16:creationId xmlns:a16="http://schemas.microsoft.com/office/drawing/2014/main" id="{2714D106-CF56-EF1F-A6C1-35E87B99BA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8782" y="4581128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45" name="Line 31">
            <a:extLst>
              <a:ext uri="{FF2B5EF4-FFF2-40B4-BE49-F238E27FC236}">
                <a16:creationId xmlns:a16="http://schemas.microsoft.com/office/drawing/2014/main" id="{0378890F-E4D2-EB6D-BD05-9C2B7B13DA3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92878" y="3789040"/>
            <a:ext cx="2304000" cy="115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6" name="Cube 45">
            <a:extLst>
              <a:ext uri="{FF2B5EF4-FFF2-40B4-BE49-F238E27FC236}">
                <a16:creationId xmlns:a16="http://schemas.microsoft.com/office/drawing/2014/main" id="{B917E564-7A3C-1DD1-2C40-39DCE2B6531F}"/>
              </a:ext>
            </a:extLst>
          </p:cNvPr>
          <p:cNvSpPr/>
          <p:nvPr/>
        </p:nvSpPr>
        <p:spPr bwMode="auto">
          <a:xfrm>
            <a:off x="4369142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47" name="Cube 46">
            <a:extLst>
              <a:ext uri="{FF2B5EF4-FFF2-40B4-BE49-F238E27FC236}">
                <a16:creationId xmlns:a16="http://schemas.microsoft.com/office/drawing/2014/main" id="{FF1C8608-4BF6-0E55-ED5E-836878D88CC8}"/>
              </a:ext>
            </a:extLst>
          </p:cNvPr>
          <p:cNvSpPr/>
          <p:nvPr/>
        </p:nvSpPr>
        <p:spPr bwMode="auto">
          <a:xfrm>
            <a:off x="768742" y="2780928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48" name="Line 31">
            <a:extLst>
              <a:ext uri="{FF2B5EF4-FFF2-40B4-BE49-F238E27FC236}">
                <a16:creationId xmlns:a16="http://schemas.microsoft.com/office/drawing/2014/main" id="{DF5A9C51-BE11-D37F-5A92-448B1ACAEE4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73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9078" y="2401143"/>
            <a:ext cx="101316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3768" y="2420888"/>
            <a:ext cx="1398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</p:spTree>
    <p:extLst>
      <p:ext uri="{BB962C8B-B14F-4D97-AF65-F5344CB8AC3E}">
        <p14:creationId xmlns:p14="http://schemas.microsoft.com/office/powerpoint/2010/main" val="23666042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9552" y="2077767"/>
                <a:ext cx="7920432" cy="169764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Root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Square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(RMSE) </a:t>
                </a:r>
              </a:p>
              <a:p>
                <a:pPr algn="just">
                  <a:spcBef>
                    <a:spcPts val="6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RMSE </a:t>
                </a:r>
                <a14:m>
                  <m:oMath xmlns:m="http://schemas.openxmlformats.org/officeDocument/2006/math">
                    <m:r>
                      <a:rPr lang="pt-P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pt-P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PT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PT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PT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PT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f>
                              <m:fPr>
                                <m:type m:val="lin"/>
                                <m:ctrlPr>
                                  <a:rPr lang="pt-PT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pt-P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pt-PT" sz="20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pt-PT" sz="20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PT" sz="20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  <m:r>
                                          <a:rPr lang="pt-PT" sz="20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PT" sz="20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pt-P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pt-PT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</m:e>
                        </m:nary>
                      </m:e>
                    </m:rad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Absoute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(MAE)</a:t>
                </a:r>
              </a:p>
              <a:p>
                <a:pPr algn="just">
                  <a:spcBef>
                    <a:spcPts val="6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MAE </a:t>
                </a:r>
                <a14:m>
                  <m:oMath xmlns:m="http://schemas.openxmlformats.org/officeDocument/2006/math">
                    <m:r>
                      <a:rPr lang="pt-P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pt-P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P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P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P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type m:val="lin"/>
                            <m:ctrlPr>
                              <a:rPr lang="pt-PT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endChr m:val="|"/>
                                <m:ctrlPr>
                                  <a:rPr lang="pt-PT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pt-P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P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  <m:r>
                                  <a:rPr lang="pt-PT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PT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num>
                          <m:den>
                            <m:r>
                              <a:rPr lang="pt-PT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9552" y="2077767"/>
                <a:ext cx="7920432" cy="1697644"/>
              </a:xfrm>
              <a:prstGeom prst="rect">
                <a:avLst/>
              </a:prstGeom>
              <a:blipFill>
                <a:blip r:embed="rId3"/>
                <a:stretch>
                  <a:fillRect l="-847" t="-7554" b="-3884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contínua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52" name="Text Box 376">
            <a:extLst>
              <a:ext uri="{FF2B5EF4-FFF2-40B4-BE49-F238E27FC236}">
                <a16:creationId xmlns:a16="http://schemas.microsoft.com/office/drawing/2014/main" id="{3050C463-7E2A-1339-FF04-3CA3C1213E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3985245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categórica (binária)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 Box 13">
                <a:extLst>
                  <a:ext uri="{FF2B5EF4-FFF2-40B4-BE49-F238E27FC236}">
                    <a16:creationId xmlns:a16="http://schemas.microsoft.com/office/drawing/2014/main" id="{B9D80B17-927C-FFBA-E4FC-DA57792B2A0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9552" y="4508593"/>
                <a:ext cx="8136906" cy="147732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True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3" name="Text Box 13">
                <a:extLst>
                  <a:ext uri="{FF2B5EF4-FFF2-40B4-BE49-F238E27FC236}">
                    <a16:creationId xmlns:a16="http://schemas.microsoft.com/office/drawing/2014/main" id="{B9D80B17-927C-FFBA-E4FC-DA57792B2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9552" y="4508593"/>
                <a:ext cx="8136906" cy="1477328"/>
              </a:xfrm>
              <a:prstGeom prst="rect">
                <a:avLst/>
              </a:prstGeom>
              <a:blipFill>
                <a:blip r:embed="rId4"/>
                <a:stretch>
                  <a:fillRect l="-825" t="-11157" b="-4793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4" name="Table 53">
            <a:extLst>
              <a:ext uri="{FF2B5EF4-FFF2-40B4-BE49-F238E27FC236}">
                <a16:creationId xmlns:a16="http://schemas.microsoft.com/office/drawing/2014/main" id="{01DDF64A-7AFF-99C4-D7D9-25DE1672AA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236471"/>
              </p:ext>
            </p:extLst>
          </p:nvPr>
        </p:nvGraphicFramePr>
        <p:xfrm>
          <a:off x="4572314" y="4506069"/>
          <a:ext cx="4104144" cy="1479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048">
                  <a:extLst>
                    <a:ext uri="{9D8B030D-6E8A-4147-A177-3AD203B41FA5}">
                      <a16:colId xmlns:a16="http://schemas.microsoft.com/office/drawing/2014/main" val="1470594638"/>
                    </a:ext>
                  </a:extLst>
                </a:gridCol>
                <a:gridCol w="1152048">
                  <a:extLst>
                    <a:ext uri="{9D8B030D-6E8A-4147-A177-3AD203B41FA5}">
                      <a16:colId xmlns:a16="http://schemas.microsoft.com/office/drawing/2014/main" val="2333174679"/>
                    </a:ext>
                  </a:extLst>
                </a:gridCol>
                <a:gridCol w="1152048">
                  <a:extLst>
                    <a:ext uri="{9D8B030D-6E8A-4147-A177-3AD203B41FA5}">
                      <a16:colId xmlns:a16="http://schemas.microsoft.com/office/drawing/2014/main" val="363150799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33873468"/>
                    </a:ext>
                  </a:extLst>
                </a:gridCol>
              </a:tblGrid>
              <a:tr h="369963">
                <a:tc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pt-PT" sz="1750" dirty="0" err="1"/>
                        <a:t>Predicted</a:t>
                      </a:r>
                      <a:r>
                        <a:rPr lang="pt-PT" sz="1750" dirty="0"/>
                        <a:t> (p = 0.50)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871798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Real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807646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496222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N.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554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7567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11709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Curva de ROC (</a:t>
            </a:r>
            <a:r>
              <a:rPr lang="pt-PT" sz="2800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Receiver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Operating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Characteristics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pic>
        <p:nvPicPr>
          <p:cNvPr id="5" name="Picture 4" descr="A diagram of a positive curve&#10;&#10;Description automatically generated">
            <a:extLst>
              <a:ext uri="{FF2B5EF4-FFF2-40B4-BE49-F238E27FC236}">
                <a16:creationId xmlns:a16="http://schemas.microsoft.com/office/drawing/2014/main" id="{C191EC24-D923-7E50-72DA-9DDBB2185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968" y="1988840"/>
            <a:ext cx="4114800" cy="41148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D6CCC12-43F8-75B8-22E5-C5576594F0F3}"/>
              </a:ext>
            </a:extLst>
          </p:cNvPr>
          <p:cNvSpPr/>
          <p:nvPr/>
        </p:nvSpPr>
        <p:spPr>
          <a:xfrm rot="-5400000">
            <a:off x="6659153" y="4133545"/>
            <a:ext cx="361985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M. Thoma (2018)</a:t>
            </a:r>
            <a:endParaRPr lang="pt-PT" sz="1600" dirty="0">
              <a:solidFill>
                <a:schemeClr val="tx1"/>
              </a:solidFill>
            </a:endParaRPr>
          </a:p>
        </p:txBody>
      </p:sp>
      <p:sp>
        <p:nvSpPr>
          <p:cNvPr id="4" name="Text Box 13">
            <a:extLst>
              <a:ext uri="{FF2B5EF4-FFF2-40B4-BE49-F238E27FC236}">
                <a16:creationId xmlns:a16="http://schemas.microsoft.com/office/drawing/2014/main" id="{3FF8CBA6-44D3-E48F-7974-13295FF83D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552" y="2138477"/>
            <a:ext cx="7920432" cy="8617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/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Trade-off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:</a:t>
            </a:r>
          </a:p>
          <a:p>
            <a:pPr algn="just"/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Sensitivity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 vs. </a:t>
            </a:r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Specificity</a:t>
            </a:r>
            <a:endParaRPr lang="pt-PT" sz="2000" dirty="0">
              <a:solidFill>
                <a:schemeClr val="tx1"/>
              </a:solidFill>
              <a:latin typeface="Humnst777 B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13">
                <a:extLst>
                  <a:ext uri="{FF2B5EF4-FFF2-40B4-BE49-F238E27FC236}">
                    <a16:creationId xmlns:a16="http://schemas.microsoft.com/office/drawing/2014/main" id="{A74B1FF7-9489-83BD-B2C2-2EEBE8947A3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9552" y="4508593"/>
                <a:ext cx="8136906" cy="147732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True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6" name="Text Box 13">
                <a:extLst>
                  <a:ext uri="{FF2B5EF4-FFF2-40B4-BE49-F238E27FC236}">
                    <a16:creationId xmlns:a16="http://schemas.microsoft.com/office/drawing/2014/main" id="{A74B1FF7-9489-83BD-B2C2-2EEBE8947A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9552" y="4508593"/>
                <a:ext cx="8136906" cy="1477328"/>
              </a:xfrm>
              <a:prstGeom prst="rect">
                <a:avLst/>
              </a:prstGeom>
              <a:blipFill>
                <a:blip r:embed="rId4"/>
                <a:stretch>
                  <a:fillRect l="-825" t="-11157" b="-4793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51304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2802859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7" name="Text Box 376"/>
          <p:cNvSpPr txBox="1">
            <a:spLocks noChangeArrowheads="1"/>
          </p:cNvSpPr>
          <p:nvPr/>
        </p:nvSpPr>
        <p:spPr bwMode="auto">
          <a:xfrm>
            <a:off x="682625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Gestão de </a:t>
            </a:r>
            <a:r>
              <a:rPr lang="pt-PT" sz="2800" dirty="0" err="1">
                <a:solidFill>
                  <a:srgbClr val="808080"/>
                </a:solidFill>
                <a:latin typeface="Humnst777 BT" pitchFamily="34" charset="0"/>
              </a:rPr>
              <a:t>projectos</a:t>
            </a:r>
            <a:endParaRPr lang="pt-PT" sz="2800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540000" y="2160000"/>
            <a:ext cx="80640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Estrutura de pastas;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Ficheiro README (e nomeação de ficheiros);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Controlo de versões (e.g. github.com, git.ine.pt).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C816A0FC-9989-00D0-7D80-27C79185FC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31991261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901BB25-96F3-CABB-18F1-00A2CC1AC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716" y="2133600"/>
            <a:ext cx="6411220" cy="3991532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682625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Estrutura de pastas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E4998D98-DF15-38AD-4EF0-54D13D814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1330619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682625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Ficheiro README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540000" y="2138367"/>
            <a:ext cx="8064000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#autor:  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Joao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Sollari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Lopes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#local:      INE, Lisboa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#criado:     28.08.2025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#modificado: 13.12.2025</a:t>
            </a:r>
          </a:p>
          <a:p>
            <a:pPr algn="just">
              <a:spcBef>
                <a:spcPts val="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+bin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|0.examples.r                         #exemplos para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recapitulacao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|0.install_packages.r                 #instalar pacotes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necessarios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|1.transform.r                        #transformacao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|2.exploration.r                      #exploração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|3.modelling.r                        #modelacao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docs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|DSR-II2025_program.pdf               #programa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|DSR-II2025_slides.pdf                #slides [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versao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final]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|DSR-II2025_slides_20250828.pptx      #slides [v2025-08-28]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|DSR-II2025_slides_20251213.pptx      #slides [v2025-12-13]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results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+1.tranform                           #resultados de "1.transform.r"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+2.exploration                        #resultados de "2.exploration.r"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+3.modelling                          #resultados de "3.modelling.r"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README.txt                              #Este ficheiro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717735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682625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Controlo de versões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795963E0-5EC7-7BB5-A8A1-1F78FEF0D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625" y="2133600"/>
            <a:ext cx="7973538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9029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682625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Comunidade R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0" name="Text Box 13"/>
          <p:cNvSpPr txBox="1">
            <a:spLocks noChangeArrowheads="1"/>
          </p:cNvSpPr>
          <p:nvPr/>
        </p:nvSpPr>
        <p:spPr bwMode="auto">
          <a:xfrm>
            <a:off x="540000" y="2160000"/>
            <a:ext cx="8064000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https://www.r-project.org/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 https://www.tidyverse.org/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4"/>
              </a:rPr>
              <a:t>https://www.tidymodels.org/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5"/>
              </a:rPr>
              <a:t>https://education.rstudio.com/learn/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6"/>
              </a:rPr>
              <a:t>https://www.r-project.org/help.html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7"/>
              </a:rPr>
              <a:t> 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8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9"/>
              </a:rPr>
              <a:t>https://hour.ine.pt/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pic>
        <p:nvPicPr>
          <p:cNvPr id="3" name="Picture 2" descr="A clock with a blue and black text&#10;&#10;Description automatically generated">
            <a:hlinkClick r:id="rId9"/>
            <a:extLst>
              <a:ext uri="{FF2B5EF4-FFF2-40B4-BE49-F238E27FC236}">
                <a16:creationId xmlns:a16="http://schemas.microsoft.com/office/drawing/2014/main" id="{FE0D96AC-6A67-A5F9-F83D-6DF55E8DF494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5816" y="5157192"/>
            <a:ext cx="941163" cy="92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72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6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3" name="Text Box 376"/>
          <p:cNvSpPr txBox="1">
            <a:spLocks noChangeArrowheads="1"/>
          </p:cNvSpPr>
          <p:nvPr/>
        </p:nvSpPr>
        <p:spPr bwMode="auto">
          <a:xfrm>
            <a:off x="540000" y="2132856"/>
            <a:ext cx="8064000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(2017)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</a:t>
            </a:r>
            <a:r>
              <a:rPr lang="pt-PT" sz="1800" dirty="0">
                <a:solidFill>
                  <a:srgbClr val="002060"/>
                </a:solidFill>
              </a:rPr>
              <a:t> </a:t>
            </a:r>
            <a:r>
              <a:rPr lang="pt-PT" sz="1800" dirty="0">
                <a:solidFill>
                  <a:srgbClr val="002060"/>
                </a:solidFill>
                <a:hlinkClick r:id="rId2"/>
              </a:rPr>
              <a:t>https://r4ds.had.co.nz/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H, </a:t>
            </a:r>
            <a:r>
              <a:rPr lang="nl-NL" sz="1800" dirty="0">
                <a:solidFill>
                  <a:schemeClr val="tx1"/>
                </a:solidFill>
              </a:rPr>
              <a:t>Çetinkaya-Rundel M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(2023)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 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 </a:t>
            </a:r>
            <a:r>
              <a:rPr lang="pt-PT" sz="1800" dirty="0">
                <a:solidFill>
                  <a:srgbClr val="002060"/>
                </a:solidFill>
                <a:hlinkClick r:id="rId3"/>
              </a:rPr>
              <a:t>https://r4ds.hadley.nz/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1800"/>
              </a:spcAft>
            </a:pPr>
            <a:endParaRPr lang="en-US" sz="1800" dirty="0">
              <a:solidFill>
                <a:srgbClr val="002060"/>
              </a:solidFill>
              <a:latin typeface="Humnst777 BT"/>
            </a:endParaRPr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>
            <a:off x="539552" y="1506792"/>
            <a:ext cx="0" cy="451449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6EB0C4CC-07A0-8173-2EF9-6B7EE194AA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Bibliografia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18713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Foundry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sz="6000" b="0" i="0" u="none" strike="noStrike" cap="none" normalizeH="0" baseline="0" smtClean="0">
            <a:ln>
              <a:noFill/>
            </a:ln>
            <a:solidFill>
              <a:srgbClr val="CC0000"/>
            </a:solidFill>
            <a:effectLst/>
            <a:latin typeface="Humanst521 BT" pitchFamily="34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63099</TotalTime>
  <Words>3053</Words>
  <Application>Microsoft Office PowerPoint</Application>
  <PresentationFormat>On-screen Show (4:3)</PresentationFormat>
  <Paragraphs>526</Paragraphs>
  <Slides>43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53" baseType="lpstr">
      <vt:lpstr>Arial</vt:lpstr>
      <vt:lpstr>Calibri</vt:lpstr>
      <vt:lpstr>Cambria Math</vt:lpstr>
      <vt:lpstr>Century Gothic</vt:lpstr>
      <vt:lpstr>Courier New</vt:lpstr>
      <vt:lpstr>Humanst521 BT</vt:lpstr>
      <vt:lpstr>Humnst777 BT</vt:lpstr>
      <vt:lpstr>Wingdings</vt:lpstr>
      <vt:lpstr>Default Design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</dc:title>
  <dc:creator>DPHCN</dc:creator>
  <cp:lastModifiedBy>João Lopes</cp:lastModifiedBy>
  <cp:revision>2937</cp:revision>
  <dcterms:created xsi:type="dcterms:W3CDTF">2004-01-14T16:14:16Z</dcterms:created>
  <dcterms:modified xsi:type="dcterms:W3CDTF">2025-11-18T17:35:21Z</dcterms:modified>
</cp:coreProperties>
</file>