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57" r:id="rId2"/>
    <p:sldMasterId id="2147483661" r:id="rId3"/>
  </p:sldMasterIdLst>
  <p:notesMasterIdLst>
    <p:notesMasterId r:id="rId47"/>
  </p:notesMasterIdLst>
  <p:handoutMasterIdLst>
    <p:handoutMasterId r:id="rId48"/>
  </p:handoutMasterIdLst>
  <p:sldIdLst>
    <p:sldId id="803" r:id="rId4"/>
    <p:sldId id="1387" r:id="rId5"/>
    <p:sldId id="1382" r:id="rId6"/>
    <p:sldId id="1332" r:id="rId7"/>
    <p:sldId id="1375" r:id="rId8"/>
    <p:sldId id="1384" r:id="rId9"/>
    <p:sldId id="1366" r:id="rId10"/>
    <p:sldId id="1094" r:id="rId11"/>
    <p:sldId id="1364" r:id="rId12"/>
    <p:sldId id="1369" r:id="rId13"/>
    <p:sldId id="1365" r:id="rId14"/>
    <p:sldId id="1385" r:id="rId15"/>
    <p:sldId id="1128" r:id="rId16"/>
    <p:sldId id="1076" r:id="rId17"/>
    <p:sldId id="1363" r:id="rId18"/>
    <p:sldId id="1367" r:id="rId19"/>
    <p:sldId id="1386" r:id="rId20"/>
    <p:sldId id="1271" r:id="rId21"/>
    <p:sldId id="1368" r:id="rId22"/>
    <p:sldId id="1370" r:id="rId23"/>
    <p:sldId id="1361" r:id="rId24"/>
    <p:sldId id="1371" r:id="rId25"/>
    <p:sldId id="1372" r:id="rId26"/>
    <p:sldId id="1390" r:id="rId27"/>
    <p:sldId id="1389" r:id="rId28"/>
    <p:sldId id="1388" r:id="rId29"/>
    <p:sldId id="1391" r:id="rId30"/>
    <p:sldId id="1392" r:id="rId31"/>
    <p:sldId id="1393" r:id="rId32"/>
    <p:sldId id="1394" r:id="rId33"/>
    <p:sldId id="1395" r:id="rId34"/>
    <p:sldId id="1376" r:id="rId35"/>
    <p:sldId id="1379" r:id="rId36"/>
    <p:sldId id="1377" r:id="rId37"/>
    <p:sldId id="1380" r:id="rId38"/>
    <p:sldId id="1378" r:id="rId39"/>
    <p:sldId id="1357" r:id="rId40"/>
    <p:sldId id="1327" r:id="rId41"/>
    <p:sldId id="1329" r:id="rId42"/>
    <p:sldId id="1328" r:id="rId43"/>
    <p:sldId id="1396" r:id="rId44"/>
    <p:sldId id="1383" r:id="rId45"/>
    <p:sldId id="1067" r:id="rId46"/>
  </p:sldIdLst>
  <p:sldSz cx="12192000" cy="6858000"/>
  <p:notesSz cx="6811963" cy="9942513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3691" autoAdjust="0"/>
  </p:normalViewPr>
  <p:slideViewPr>
    <p:cSldViewPr>
      <p:cViewPr varScale="1">
        <p:scale>
          <a:sx n="74" d="100"/>
          <a:sy n="74" d="100"/>
        </p:scale>
        <p:origin x="84" y="486"/>
      </p:cViewPr>
      <p:guideLst>
        <p:guide orient="horz" pos="1344"/>
        <p:guide pos="7287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190" y="-90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8536" y="0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3169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8536" y="9443169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6" y="0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27813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2377"/>
            <a:ext cx="5449570" cy="447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169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6" y="9443169"/>
            <a:ext cx="2951851" cy="49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11" tIns="45555" rIns="91111" bIns="45555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0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80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21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3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27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64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10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726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72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15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64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27813" cy="372903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40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0685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36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8213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6411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1468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429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3"/>
          <p:cNvSpPr txBox="1">
            <a:spLocks noChangeArrowheads="1"/>
          </p:cNvSpPr>
          <p:nvPr userDrawn="1"/>
        </p:nvSpPr>
        <p:spPr bwMode="auto">
          <a:xfrm>
            <a:off x="11100392" y="6163979"/>
            <a:ext cx="960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11" name="Text Box 13"/>
          <p:cNvSpPr txBox="1">
            <a:spLocks noChangeArrowheads="1"/>
          </p:cNvSpPr>
          <p:nvPr userDrawn="1"/>
        </p:nvSpPr>
        <p:spPr bwMode="auto">
          <a:xfrm>
            <a:off x="5039883" y="6164408"/>
            <a:ext cx="3744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Data </a:t>
            </a:r>
            <a:r>
              <a:rPr lang="pt-PT" sz="1200" dirty="0" err="1">
                <a:solidFill>
                  <a:schemeClr val="bg2"/>
                </a:solidFill>
                <a:latin typeface="Humnst777 BT" pitchFamily="34" charset="0"/>
              </a:rPr>
              <a:t>Science</a:t>
            </a:r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com R - II</a:t>
            </a:r>
          </a:p>
        </p:txBody>
      </p:sp>
      <p:sp>
        <p:nvSpPr>
          <p:cNvPr id="12" name="Text Box 13"/>
          <p:cNvSpPr txBox="1">
            <a:spLocks noChangeArrowheads="1"/>
          </p:cNvSpPr>
          <p:nvPr userDrawn="1"/>
        </p:nvSpPr>
        <p:spPr bwMode="auto">
          <a:xfrm>
            <a:off x="8783882" y="6176009"/>
            <a:ext cx="2227356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Setembro 2024</a:t>
            </a:r>
          </a:p>
        </p:txBody>
      </p:sp>
      <p:sp>
        <p:nvSpPr>
          <p:cNvPr id="13" name="Text Box 34"/>
          <p:cNvSpPr txBox="1">
            <a:spLocks noChangeArrowheads="1"/>
          </p:cNvSpPr>
          <p:nvPr userDrawn="1"/>
        </p:nvSpPr>
        <p:spPr bwMode="auto">
          <a:xfrm flipV="1">
            <a:off x="10703984" y="6215453"/>
            <a:ext cx="62653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83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4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12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6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5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7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6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947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20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2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17" Type="http://schemas.openxmlformats.org/officeDocument/2006/relationships/image" Target="../media/image6.sv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624417" y="765175"/>
            <a:ext cx="287867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009651" y="765175"/>
            <a:ext cx="383116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1488018" y="765175"/>
            <a:ext cx="1153583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2736851" y="765175"/>
            <a:ext cx="768349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1104901" y="909638"/>
            <a:ext cx="768351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434" y="6237289"/>
            <a:ext cx="4847167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roposta da CCDR Algarve ao Instituto Nacional de Estatística (INE) | RAARA">
            <a:extLst>
              <a:ext uri="{FF2B5EF4-FFF2-40B4-BE49-F238E27FC236}">
                <a16:creationId xmlns:a16="http://schemas.microsoft.com/office/drawing/2014/main" id="{3B4B0A3F-174F-9975-3A0D-CD0A3F6D16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2" b="27068"/>
          <a:stretch/>
        </p:blipFill>
        <p:spPr bwMode="auto">
          <a:xfrm>
            <a:off x="239350" y="260649"/>
            <a:ext cx="2497185" cy="66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758294-BA60-9AEB-86AB-B100BBBA7F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6248" y="6203895"/>
            <a:ext cx="3133725" cy="4762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B409DF-DE00-B517-2DF9-54D162DA59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361" y="6082428"/>
            <a:ext cx="5423827" cy="58693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F7509D5-5A88-C501-CAAA-043034EB786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189" y="6226319"/>
            <a:ext cx="950564" cy="3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5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2" descr="Proposta da CCDR Algarve ao Instituto Nacional de Estatística (INE) | RAARA">
            <a:extLst>
              <a:ext uri="{FF2B5EF4-FFF2-40B4-BE49-F238E27FC236}">
                <a16:creationId xmlns:a16="http://schemas.microsoft.com/office/drawing/2014/main" id="{15BB259D-C105-86D0-2352-14F17054695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2" b="27068"/>
          <a:stretch/>
        </p:blipFill>
        <p:spPr bwMode="auto">
          <a:xfrm>
            <a:off x="239350" y="260649"/>
            <a:ext cx="2497185" cy="66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56E44-4CB4-9477-DFE6-80A97E70895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76248" y="6203895"/>
            <a:ext cx="3133725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5D422-210E-C94E-136F-383243BFF92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361" y="6082428"/>
            <a:ext cx="5423827" cy="58693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6E12E6-BE03-6D82-78C0-C972C149CCF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65189" y="6226319"/>
            <a:ext cx="950564" cy="3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5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5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html/data-transformation.html" TargetMode="External"/><Relationship Id="rId2" Type="http://schemas.openxmlformats.org/officeDocument/2006/relationships/hyperlink" Target="https://dplyr.tidyverse.org/reference/index.html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html/data-visualization.html" TargetMode="External"/><Relationship Id="rId2" Type="http://schemas.openxmlformats.org/officeDocument/2006/relationships/hyperlink" Target="https://ggplot2.tidyverse.org/reference/index.html" TargetMode="Externa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pubs.com/abigailpayne/743827" TargetMode="External"/><Relationship Id="rId2" Type="http://schemas.openxmlformats.org/officeDocument/2006/relationships/hyperlink" Target="https://www.datacamp.com/tutorial/linear-regression-R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-bloggers.com/" TargetMode="External"/><Relationship Id="rId3" Type="http://schemas.openxmlformats.org/officeDocument/2006/relationships/hyperlink" Target="https://www.tidyverse.org/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r-project.org/help.html" TargetMode="External"/><Relationship Id="rId5" Type="http://schemas.openxmlformats.org/officeDocument/2006/relationships/hyperlink" Target="https://education.rstudio.com/learn/" TargetMode="External"/><Relationship Id="rId10" Type="http://schemas.openxmlformats.org/officeDocument/2006/relationships/image" Target="../media/image19.png"/><Relationship Id="rId4" Type="http://schemas.openxmlformats.org/officeDocument/2006/relationships/hyperlink" Target="https://www.tidymodels.org/" TargetMode="External"/><Relationship Id="rId9" Type="http://schemas.openxmlformats.org/officeDocument/2006/relationships/hyperlink" Target="https://hour.ine.pt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" TargetMode="External"/><Relationship Id="rId2" Type="http://schemas.openxmlformats.org/officeDocument/2006/relationships/hyperlink" Target="https://r4ds.had.co.nz/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4">
            <a:extLst>
              <a:ext uri="{FF2B5EF4-FFF2-40B4-BE49-F238E27FC236}">
                <a16:creationId xmlns:a16="http://schemas.microsoft.com/office/drawing/2014/main" id="{DE0ABF8F-D2B3-EC60-474F-46A54BA68A0E}"/>
              </a:ext>
            </a:extLst>
          </p:cNvPr>
          <p:cNvSpPr/>
          <p:nvPr/>
        </p:nvSpPr>
        <p:spPr>
          <a:xfrm>
            <a:off x="2845666" y="2140905"/>
            <a:ext cx="650066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pt-PT" sz="4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Primeira Parte</a:t>
            </a:r>
          </a:p>
        </p:txBody>
      </p:sp>
      <p:sp>
        <p:nvSpPr>
          <p:cNvPr id="8" name="Rectângulo 5">
            <a:extLst>
              <a:ext uri="{FF2B5EF4-FFF2-40B4-BE49-F238E27FC236}">
                <a16:creationId xmlns:a16="http://schemas.microsoft.com/office/drawing/2014/main" id="{8BCFD7A4-841C-F5D6-56F5-3DA59592295D}"/>
              </a:ext>
            </a:extLst>
          </p:cNvPr>
          <p:cNvSpPr/>
          <p:nvPr/>
        </p:nvSpPr>
        <p:spPr>
          <a:xfrm>
            <a:off x="4069961" y="4070517"/>
            <a:ext cx="40520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pt-PT" sz="2000" b="1" u="sng" dirty="0">
                <a:solidFill>
                  <a:srgbClr val="4D4D4D"/>
                </a:solidFill>
                <a:latin typeface="Century Gothic" panose="020B0502020202020204" pitchFamily="34" charset="0"/>
              </a:rPr>
              <a:t>João Lopes</a:t>
            </a:r>
            <a:r>
              <a:rPr lang="pt-PT" sz="2000" b="1" dirty="0">
                <a:solidFill>
                  <a:srgbClr val="4D4D4D"/>
                </a:solidFill>
                <a:latin typeface="Century Gothic" panose="020B0502020202020204" pitchFamily="34" charset="0"/>
              </a:rPr>
              <a:t> e Pedro Sousa</a:t>
            </a:r>
            <a:endParaRPr lang="pt-PT" sz="2000" b="1" u="sng" dirty="0">
              <a:solidFill>
                <a:srgbClr val="4D4D4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ângulo 8">
            <a:extLst>
              <a:ext uri="{FF2B5EF4-FFF2-40B4-BE49-F238E27FC236}">
                <a16:creationId xmlns:a16="http://schemas.microsoft.com/office/drawing/2014/main" id="{B5C31F85-B977-D2FF-C53D-8BC887AD2124}"/>
              </a:ext>
            </a:extLst>
          </p:cNvPr>
          <p:cNvSpPr/>
          <p:nvPr/>
        </p:nvSpPr>
        <p:spPr>
          <a:xfrm>
            <a:off x="5087888" y="4778256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pt-PT" sz="2000" dirty="0">
                <a:solidFill>
                  <a:srgbClr val="4D4D4D"/>
                </a:solidFill>
                <a:latin typeface="Century Gothic" panose="020B0502020202020204" pitchFamily="34" charset="0"/>
              </a:rPr>
              <a:t>Dezembro 2025</a:t>
            </a:r>
          </a:p>
        </p:txBody>
      </p:sp>
      <p:sp>
        <p:nvSpPr>
          <p:cNvPr id="10" name="Rectângulo 4">
            <a:extLst>
              <a:ext uri="{FF2B5EF4-FFF2-40B4-BE49-F238E27FC236}">
                <a16:creationId xmlns:a16="http://schemas.microsoft.com/office/drawing/2014/main" id="{B96B270A-36D4-C846-DE6F-8B19A4B374BE}"/>
              </a:ext>
            </a:extLst>
          </p:cNvPr>
          <p:cNvSpPr/>
          <p:nvPr/>
        </p:nvSpPr>
        <p:spPr>
          <a:xfrm>
            <a:off x="2845666" y="1196753"/>
            <a:ext cx="650066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pt-PT" sz="3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R para Ciência dos Dados -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DFC7A314-AAAE-806C-7A7D-BF773D16BAF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24417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10"/>
          <p:cNvSpPr>
            <a:spLocks noChangeShapeType="1"/>
          </p:cNvSpPr>
          <p:nvPr/>
        </p:nvSpPr>
        <p:spPr bwMode="auto">
          <a:xfrm flipH="1">
            <a:off x="2063552" y="1556792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5" name="Line 11"/>
          <p:cNvSpPr>
            <a:spLocks noChangeShapeType="1"/>
          </p:cNvSpPr>
          <p:nvPr/>
        </p:nvSpPr>
        <p:spPr bwMode="auto">
          <a:xfrm>
            <a:off x="2711252" y="1556792"/>
            <a:ext cx="372" cy="234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44591" y="1556793"/>
            <a:ext cx="4968875" cy="232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pt-PT" sz="2500" b="1" dirty="0">
                <a:solidFill>
                  <a:srgbClr val="003E6C"/>
                </a:solidFill>
              </a:rPr>
              <a:t>Transformação dos dados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b="1" dirty="0">
                <a:solidFill>
                  <a:srgbClr val="003E6C"/>
                </a:solidFill>
                <a:latin typeface="Humnst777 BT" pitchFamily="34" charset="0"/>
              </a:rPr>
              <a:t>  Exploração dos dados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b="1" dirty="0">
                <a:solidFill>
                  <a:srgbClr val="003E6C"/>
                </a:solidFill>
                <a:latin typeface="Humnst777 BT" pitchFamily="34" charset="0"/>
              </a:rPr>
              <a:t>  Modelação</a:t>
            </a:r>
            <a:endParaRPr lang="pt-PT" sz="2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Humnst777 BT" pitchFamily="34" charset="0"/>
              </a:rPr>
              <a:t>  </a:t>
            </a:r>
            <a:r>
              <a:rPr lang="pt-PT" sz="2500" dirty="0">
                <a:solidFill>
                  <a:schemeClr val="tx1"/>
                </a:solidFill>
                <a:latin typeface="Humnst777 BT" pitchFamily="34" charset="0"/>
              </a:rPr>
              <a:t>Relatórios e apresentações 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Humnst777 BT" pitchFamily="34" charset="0"/>
              </a:rPr>
              <a:t>  Comunicação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E726C6CB-0249-7F60-9345-744BA08E109D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72842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8"/>
            <a:ext cx="4968875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chemeClr val="accent2"/>
                </a:solidFill>
                <a:latin typeface="Humnst777 BT" pitchFamily="34" charset="0"/>
              </a:rPr>
              <a:t>  </a:t>
            </a: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Transformação dos dados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Vetores numéricos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Fatores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Vetores lógicos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 Exploração dos dados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Variação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Valores em falta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Covariação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Padrões e Modelos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 Modelação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Construir modelo simples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Construir modelo com </a:t>
            </a:r>
            <a:r>
              <a:rPr lang="pt-PT" sz="18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()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Construir vários modelos com </a:t>
            </a:r>
            <a:r>
              <a:rPr lang="pt-PT" sz="18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()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11E63F42-DEAC-47C1-9ADA-B513FA96B97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80771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5934" y="4941168"/>
            <a:ext cx="49354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chemeClr val="tx1"/>
                </a:solidFill>
              </a:rPr>
              <a:t>H. Wickham M. Çetinkaya-Rundel &amp; G. Grolemund (2023)</a:t>
            </a:r>
            <a:endParaRPr lang="pt-PT" sz="1600" dirty="0">
              <a:solidFill>
                <a:schemeClr val="tx1"/>
              </a:solidFill>
            </a:endParaRPr>
          </a:p>
        </p:txBody>
      </p:sp>
      <p:pic>
        <p:nvPicPr>
          <p:cNvPr id="3" name="Picture 2" descr="A diagram of a model&#10;&#10;Description automatically generated">
            <a:extLst>
              <a:ext uri="{FF2B5EF4-FFF2-40B4-BE49-F238E27FC236}">
                <a16:creationId xmlns:a16="http://schemas.microsoft.com/office/drawing/2014/main" id="{026DF472-C5F6-5267-7655-957222DCB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639" y="2132618"/>
            <a:ext cx="7334722" cy="2477419"/>
          </a:xfrm>
          <a:prstGeom prst="rect">
            <a:avLst/>
          </a:prstGeom>
        </p:spPr>
      </p:pic>
      <p:sp>
        <p:nvSpPr>
          <p:cNvPr id="4" name="Text Box 376">
            <a:extLst>
              <a:ext uri="{FF2B5EF4-FFF2-40B4-BE49-F238E27FC236}">
                <a16:creationId xmlns:a16="http://schemas.microsoft.com/office/drawing/2014/main" id="{F028F56D-0FE2-9788-2090-540A0D5D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08732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Esquema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49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1 - Transformação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2560167D-AED5-DA49-4DD4-4C9749A7D7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69417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468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Vetores numéricos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Contagens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numéricas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genéricas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Estatísticas descritivas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Fatores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Operações básicas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Base de dados </a:t>
            </a:r>
            <a:r>
              <a:rPr lang="pt-PT" sz="1600" dirty="0" err="1">
                <a:solidFill>
                  <a:srgbClr val="003E6C"/>
                </a:solidFill>
                <a:latin typeface="Humnst777 BT" pitchFamily="34" charset="0"/>
              </a:rPr>
              <a:t>gss_cat</a:t>
            </a: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Alterar ordem dos fatores (c/exercícios)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Alterar os fatores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 Vetores lógicos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Comparações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Álgebra booleana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Sumarização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condicionais  (c/ exercícios)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1 - Transformação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468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09:30 - 11:00 e 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14:00 - 15:00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15:15 - 17:00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2560167D-AED5-DA49-4DD4-4C9749A7D7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46FA9A-6F4F-FA20-1D54-4A91A6C310D4}"/>
              </a:ext>
            </a:extLst>
          </p:cNvPr>
          <p:cNvCxnSpPr/>
          <p:nvPr/>
        </p:nvCxnSpPr>
        <p:spPr bwMode="auto">
          <a:xfrm>
            <a:off x="4655840" y="1719858"/>
            <a:ext cx="252028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D932DB-573A-A85A-DAAA-CD28EE4AC2FB}"/>
              </a:ext>
            </a:extLst>
          </p:cNvPr>
          <p:cNvCxnSpPr/>
          <p:nvPr/>
        </p:nvCxnSpPr>
        <p:spPr bwMode="auto">
          <a:xfrm>
            <a:off x="3719736" y="3265934"/>
            <a:ext cx="475252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2E306B-6634-4987-5545-F53328AD7F9E}"/>
              </a:ext>
            </a:extLst>
          </p:cNvPr>
          <p:cNvCxnSpPr/>
          <p:nvPr/>
        </p:nvCxnSpPr>
        <p:spPr bwMode="auto">
          <a:xfrm>
            <a:off x="4439816" y="4797152"/>
            <a:ext cx="403244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21643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60000"/>
            <a:ext cx="80640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Selecionar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linhas (i.e. observações);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arrange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 Ordenar linhas (i.e. observações);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Selecionar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colunas (i.e. variáveis);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mutate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Criar novas colunas (i.e. variáveis);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Calcular estatísticas descritivas.</a:t>
            </a:r>
            <a:endParaRPr lang="pt-PT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Criar grupos de observações para manipulação.</a:t>
            </a: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cs typeface="Courier New" panose="02070309020205020404" pitchFamily="49" charset="0"/>
                <a:hlinkClick r:id="rId2"/>
              </a:rPr>
              <a:t>https://dplyr.tidyverse.org/reference/index.html</a:t>
            </a: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  <a:cs typeface="Courier New" panose="02070309020205020404" pitchFamily="49" charset="0"/>
                <a:hlinkClick r:id="rId3"/>
              </a:rPr>
              <a:t>https://rstudio.github.io/cheatsheets/html/data-transformation.html</a:t>
            </a:r>
            <a:endParaRPr lang="pt-PT" sz="2000" dirty="0">
              <a:solidFill>
                <a:schemeClr val="tx1"/>
              </a:solidFill>
              <a:latin typeface="Humnst777 BT"/>
              <a:cs typeface="Courier New" panose="02070309020205020404" pitchFamily="49" charset="0"/>
            </a:endParaRP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F0DEADA4-5A5D-024A-AC90-C48442A12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dplyer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3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dplyer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tidyverse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|&gt;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select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"cut"</a:t>
            </a:r>
            <a:r>
              <a:rPr lang="pt-P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filter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smaller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log10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|&gt;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variable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group_by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group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"cut"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sumarize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calculate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of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calculate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of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) |&gt;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arrange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desc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arrange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8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dplyer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# A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 5 × 3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cut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mean_carat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ord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         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dbl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    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dbl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Fair             3.51      1.03 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Premium          3.45      0.889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3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Good             3.41      0.847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Very Good        3.39      0.806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5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Ideal            3.32      0.702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55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2 - Exploração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011B0E89-4F52-C331-46AC-BBA6713F7F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317021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375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Variação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Valores típicos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Valores invulgares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Valores em falta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Explícitos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Implícitos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Fatores e grupos vazios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 Covariação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Uma categórica e uma numérica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Duas categóricas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Duas numéricas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Padrões e modelos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2 - Exploração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37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3765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09:30 - 11:00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14:00 - 16:00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6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16:15 - 17:00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011B0E89-4F52-C331-46AC-BBA6713F7F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512755-F367-1548-B162-5DC204BF1B06}"/>
              </a:ext>
            </a:extLst>
          </p:cNvPr>
          <p:cNvCxnSpPr/>
          <p:nvPr/>
        </p:nvCxnSpPr>
        <p:spPr bwMode="auto">
          <a:xfrm>
            <a:off x="3863752" y="1720850"/>
            <a:ext cx="4608512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6956FD-E17A-83F9-834B-BF0F5FA24E2C}"/>
              </a:ext>
            </a:extLst>
          </p:cNvPr>
          <p:cNvCxnSpPr/>
          <p:nvPr/>
        </p:nvCxnSpPr>
        <p:spPr bwMode="auto">
          <a:xfrm>
            <a:off x="4511824" y="2636912"/>
            <a:ext cx="396044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DCD260-5328-17D7-1EB9-CFCE3297C61B}"/>
              </a:ext>
            </a:extLst>
          </p:cNvPr>
          <p:cNvCxnSpPr/>
          <p:nvPr/>
        </p:nvCxnSpPr>
        <p:spPr bwMode="auto">
          <a:xfrm>
            <a:off x="4007768" y="3861048"/>
            <a:ext cx="446449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781C2F-EA98-40B9-BFCA-B32FC0949BE4}"/>
              </a:ext>
            </a:extLst>
          </p:cNvPr>
          <p:cNvCxnSpPr/>
          <p:nvPr/>
        </p:nvCxnSpPr>
        <p:spPr bwMode="auto">
          <a:xfrm>
            <a:off x="4727848" y="5104234"/>
            <a:ext cx="374441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30751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7415" name="Text Box 376"/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60000"/>
            <a:ext cx="792043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Data;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Aesthetic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mapping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aes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Geometric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object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geom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Statistical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transformation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stat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Scale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Themes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 marL="342900" indent="-342900"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https://ggplot2.tidyverse.org/reference/index.html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https://rstudio.github.io/cheatsheets/html/data-visualization.html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18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set.seed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1984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|&gt;     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filter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smaller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slice_sample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500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sample for 500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per "cut"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aesthetics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mapping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alpha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0.1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geometric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 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statistical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transformation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"lm"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formula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 + I(x^2) + I(x^3)"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scale_x_continuous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trans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"log10"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x-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axis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scale_y_continuous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trans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"log10"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y-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axis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labs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Weight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"Price"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"Cut"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labels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theme_minimal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change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theme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5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lines and dots&#10;&#10;Description automatically generated with medium confidence">
            <a:extLst>
              <a:ext uri="{FF2B5EF4-FFF2-40B4-BE49-F238E27FC236}">
                <a16:creationId xmlns:a16="http://schemas.microsoft.com/office/drawing/2014/main" id="{5B2E28D7-2814-1A37-EA2B-9400B4741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46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32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3 - Modelação</a:t>
            </a: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E39B369C-2491-251B-2DFE-4302AB7FD700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35536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4747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Construir modelo simples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Explorar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Ajustar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Usar modelo para previsão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Construir modelo com </a:t>
            </a:r>
            <a:r>
              <a:rPr lang="pt-PT" sz="1500" b="1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endParaRPr lang="pt-PT" sz="1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>
                <a:solidFill>
                  <a:srgbClr val="003E6C"/>
                </a:solidFill>
                <a:latin typeface="Humnst777 BT" pitchFamily="34" charset="0"/>
              </a:rPr>
              <a:t> Explorar 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Dividir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Ajustar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Avaliar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 Construir vários modelos com </a:t>
            </a:r>
            <a:r>
              <a:rPr lang="pt-PT" sz="1500" b="1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endParaRPr lang="pt-PT" sz="1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Explorar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Dividir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 ajustar modelo 1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 ajustar modelo 2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Avaliar o melhor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3 - Modelação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4747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09:30 - 11:00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14:00 - 15:00 e 15:15 - 17:00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18E9901F-A625-5978-C8B9-7AB1C93843DE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0BDA8F-427E-C2E3-608E-F9C8D0FA1B8F}"/>
              </a:ext>
            </a:extLst>
          </p:cNvPr>
          <p:cNvCxnSpPr>
            <a:cxnSpLocks/>
          </p:cNvCxnSpPr>
          <p:nvPr/>
        </p:nvCxnSpPr>
        <p:spPr bwMode="auto">
          <a:xfrm>
            <a:off x="5087888" y="1720850"/>
            <a:ext cx="3384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13D286-9B90-2D8F-69AD-866A648854CC}"/>
              </a:ext>
            </a:extLst>
          </p:cNvPr>
          <p:cNvCxnSpPr>
            <a:cxnSpLocks/>
          </p:cNvCxnSpPr>
          <p:nvPr/>
        </p:nvCxnSpPr>
        <p:spPr bwMode="auto">
          <a:xfrm>
            <a:off x="5663952" y="2881511"/>
            <a:ext cx="280853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BD704B-B5DA-08E4-CB7C-C3E88EC4CFFE}"/>
              </a:ext>
            </a:extLst>
          </p:cNvPr>
          <p:cNvCxnSpPr>
            <a:cxnSpLocks/>
          </p:cNvCxnSpPr>
          <p:nvPr/>
        </p:nvCxnSpPr>
        <p:spPr bwMode="auto">
          <a:xfrm>
            <a:off x="6312024" y="4634086"/>
            <a:ext cx="108012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3349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0C38659E-44D2-1F8B-7063-017B1A96E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46A14C6A-AFDD-4709-CE5D-8CB0945F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000" y="2160000"/>
            <a:ext cx="792043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Data;</a:t>
            </a:r>
          </a:p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Formula (e.g.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formula()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Fit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model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aov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Extract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parametes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predicted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Testing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assumptions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Evaluate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model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AIC()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…).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https://www.datacamp.com/tutorial/linear-regression-R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https://rpubs.com/abigailpayne/743827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5" name="Text Box 376">
            <a:extLst>
              <a:ext uri="{FF2B5EF4-FFF2-40B4-BE49-F238E27FC236}">
                <a16:creationId xmlns:a16="http://schemas.microsoft.com/office/drawing/2014/main" id="{5857582F-6E27-D19A-1E20-9F3CB0B3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funções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0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|&gt;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filter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&amp; 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out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outliers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in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smaller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slice_sample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1000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sample for 1000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observations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select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"cut"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log10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            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variable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log10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variable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fct_cut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factor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ordered 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make variable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into factor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mod1 </a:t>
            </a:r>
            <a:r>
              <a:rPr lang="pt-PT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formula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fct_cut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specify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model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mod1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diamonds2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fit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model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to data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summary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get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summary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funções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250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Residuals: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Min       1Q   Median       3Q      Max 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-0.33696 -0.06961  0.00255  0.07358  0.36898 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Coefficients: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Estimate Std. Error t value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3.56450    0.02020 176.449  &lt; 2e-16 ***</a:t>
            </a: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lcarat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1.70134    0.01384 122.938  &lt; 2e-16 ***</a:t>
            </a: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fct_cutGood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0.07818    0.02347   3.331 0.000896 ***</a:t>
            </a: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fct_cutVery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Good  0.09259    0.02164   4.279 2.06e-05 ***</a:t>
            </a: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fct_cutPremium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0.08857    0.02144   4.131 3.91e-05 ***</a:t>
            </a: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fct_cutIdeal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0.12437    0.02111   5.891 5.24e-09 ***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0.9396,	Adjusted R-squared:  0.9393 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F-statistic:  3093 on 5 and 994 DF,  p-value: &lt; 2.2e-16</a:t>
            </a:r>
          </a:p>
        </p:txBody>
      </p:sp>
      <p:sp>
        <p:nvSpPr>
          <p:cNvPr id="6" name="Text Box 376">
            <a:extLst>
              <a:ext uri="{FF2B5EF4-FFF2-40B4-BE49-F238E27FC236}">
                <a16:creationId xmlns:a16="http://schemas.microsoft.com/office/drawing/2014/main" id="{EF5EDE88-3FFB-814C-F7E8-110E916C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funções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064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2064000" y="2160000"/>
            <a:ext cx="7920432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MLR.1 O modelo é linear nos parâmetros;</a:t>
            </a: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MLR.2 Amostra aleatória (e.g. não há </a:t>
            </a:r>
            <a:r>
              <a:rPr lang="pt-PT" sz="2000" dirty="0" err="1">
                <a:solidFill>
                  <a:schemeClr val="tx1"/>
                </a:solidFill>
                <a:latin typeface="Humnst777 BT"/>
              </a:rPr>
              <a:t>outliers</a:t>
            </a:r>
            <a:r>
              <a:rPr lang="pt-PT" sz="2000" dirty="0">
                <a:solidFill>
                  <a:schemeClr val="tx1"/>
                </a:solidFill>
                <a:latin typeface="Humnst777 BT"/>
              </a:rPr>
              <a:t>, valores omissos aleatórios);</a:t>
            </a: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MLR.3 Não há </a:t>
            </a:r>
            <a:r>
              <a:rPr lang="pt-PT" sz="2000" dirty="0" err="1">
                <a:solidFill>
                  <a:schemeClr val="tx1"/>
                </a:solidFill>
                <a:latin typeface="Humnst777 BT"/>
              </a:rPr>
              <a:t>multicolinearidade</a:t>
            </a:r>
            <a:r>
              <a:rPr lang="pt-PT" sz="2000" dirty="0">
                <a:solidFill>
                  <a:schemeClr val="tx1"/>
                </a:solidFill>
                <a:latin typeface="Humnst777 BT"/>
              </a:rPr>
              <a:t> entre preditores;</a:t>
            </a: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MLR.4 Erro com valor esperado zero dado qualquer valor dos preditores;</a:t>
            </a: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MLR.5 Erro com variância constante dado qualquer valor dos preditores;</a:t>
            </a: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</a:rPr>
              <a:t>MLR.6 Erro é independente dos preditores e tem distribuição normal.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4584" y="5330099"/>
            <a:ext cx="78177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Wooldridge J, Introductory Econometrics: A Modern Approach, 7 ed. Thomson</a:t>
            </a:r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performance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</p:spTree>
    <p:extLst>
      <p:ext uri="{BB962C8B-B14F-4D97-AF65-F5344CB8AC3E}">
        <p14:creationId xmlns:p14="http://schemas.microsoft.com/office/powerpoint/2010/main" val="179160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"performance"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check_model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check 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MLR.1 The population model is linear in the parameters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"linearity"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MLR.3 No multicollinearity between predictors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vif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MLR.5 The error has constant variance given any values of the parameters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"homogeneity"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MLR.6 The error is independent of the predictors and is normally distributed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qq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8A4B67A1-D88D-380F-F20F-09F8E9EE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performance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07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blue dots&#10;&#10;Description automatically generated">
            <a:extLst>
              <a:ext uri="{FF2B5EF4-FFF2-40B4-BE49-F238E27FC236}">
                <a16:creationId xmlns:a16="http://schemas.microsoft.com/office/drawing/2014/main" id="{8EDCBB99-8BDF-E903-ABE5-ECD994B60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45" y="2127069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5" name="Text Box 376">
            <a:extLst>
              <a:ext uri="{FF2B5EF4-FFF2-40B4-BE49-F238E27FC236}">
                <a16:creationId xmlns:a16="http://schemas.microsoft.com/office/drawing/2014/main" id="{1EEBEC2F-ADA3-3BD0-9E07-422D6A435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performance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29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03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rnorm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"lm"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formula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simples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128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blue line and black dots&#10;&#10;Description automatically generated">
            <a:extLst>
              <a:ext uri="{FF2B5EF4-FFF2-40B4-BE49-F238E27FC236}">
                <a16:creationId xmlns:a16="http://schemas.microsoft.com/office/drawing/2014/main" id="{FC36B86D-8204-A3A9-47C3-2DD335884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7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simples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3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rnorm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factor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tb_lm2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&lt;-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coef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geom_abline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slope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"#F8766D"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geom_abline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slope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sum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"#00BFC4"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múltipla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756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5D490F25-C853-D2EC-10EC-2A2F1C1AD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17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múltipla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57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03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pi_x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)/(</a:t>
            </a:r>
            <a:r>
              <a:rPr lang="sv-SE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pi_x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binomial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link=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logit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resp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formula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method.args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family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"binomial"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geom_hline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yintercept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linetype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dashed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"gray"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logística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04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E57D83E8-252F-8515-2C55-C86570D1A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474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logística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98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rpart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tb_rf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ceiling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ceiling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x3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ceiling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pi_x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)/(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pi_x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across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as.factor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rpart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tb_rf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control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rpart.control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minsplit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plot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branch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02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branch.lwd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branch.col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res_rd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minlength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use.n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fancy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fwidth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fheight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cex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8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font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309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41FE373F-87EA-14B1-DF58-E4A335B79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36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09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040E1F8D-2F15-9C26-D2F4-50F7431DD571}"/>
              </a:ext>
            </a:extLst>
          </p:cNvPr>
          <p:cNvSpPr/>
          <p:nvPr/>
        </p:nvSpPr>
        <p:spPr bwMode="auto">
          <a:xfrm>
            <a:off x="4308966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0" name="Can 39">
            <a:extLst>
              <a:ext uri="{FF2B5EF4-FFF2-40B4-BE49-F238E27FC236}">
                <a16:creationId xmlns:a16="http://schemas.microsoft.com/office/drawing/2014/main" id="{BED22CE5-DCB8-6ECF-4C5D-CAC41F6152A7}"/>
              </a:ext>
            </a:extLst>
          </p:cNvPr>
          <p:cNvSpPr/>
          <p:nvPr/>
        </p:nvSpPr>
        <p:spPr bwMode="auto">
          <a:xfrm>
            <a:off x="2148726" y="4293096"/>
            <a:ext cx="450000" cy="118264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CC2C16EB-A380-74AB-6859-6EE7531E1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6E2297F-3215-B168-BAC9-496B869C99A0}"/>
              </a:ext>
            </a:extLst>
          </p:cNvPr>
          <p:cNvSpPr/>
          <p:nvPr/>
        </p:nvSpPr>
        <p:spPr bwMode="auto">
          <a:xfrm>
            <a:off x="9061494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51" name="Can 53">
            <a:extLst>
              <a:ext uri="{FF2B5EF4-FFF2-40B4-BE49-F238E27FC236}">
                <a16:creationId xmlns:a16="http://schemas.microsoft.com/office/drawing/2014/main" id="{9B00B881-E7A5-8513-8F2D-B4E6961F4478}"/>
              </a:ext>
            </a:extLst>
          </p:cNvPr>
          <p:cNvSpPr>
            <a:spLocks noChangeAspect="1"/>
          </p:cNvSpPr>
          <p:nvPr/>
        </p:nvSpPr>
        <p:spPr bwMode="auto">
          <a:xfrm>
            <a:off x="9236268" y="2564904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52" name="Line 31">
            <a:extLst>
              <a:ext uri="{FF2B5EF4-FFF2-40B4-BE49-F238E27FC236}">
                <a16:creationId xmlns:a16="http://schemas.microsoft.com/office/drawing/2014/main" id="{BF13A75D-FDE8-A64A-95D6-90041EECA0C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3" name="Line 31">
            <a:extLst>
              <a:ext uri="{FF2B5EF4-FFF2-40B4-BE49-F238E27FC236}">
                <a16:creationId xmlns:a16="http://schemas.microsoft.com/office/drawing/2014/main" id="{56253411-EDAF-256B-0F23-4C0E5575509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691259C9-7F85-FE58-7AE4-A574D4FD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B83F4A44-B0A3-5C0D-5B88-F9A07C8A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56" name="Text Box 29">
            <a:extLst>
              <a:ext uri="{FF2B5EF4-FFF2-40B4-BE49-F238E27FC236}">
                <a16:creationId xmlns:a16="http://schemas.microsoft.com/office/drawing/2014/main" id="{F8C0A46A-B5B1-C3EC-3332-98A1B481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57" name="Line 31">
            <a:extLst>
              <a:ext uri="{FF2B5EF4-FFF2-40B4-BE49-F238E27FC236}">
                <a16:creationId xmlns:a16="http://schemas.microsoft.com/office/drawing/2014/main" id="{2B6F87E5-49DD-59E7-7801-339BDB707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F242DD4D-F83A-C232-0DF7-4F9E4C8A479D}"/>
              </a:ext>
            </a:extLst>
          </p:cNvPr>
          <p:cNvSpPr/>
          <p:nvPr/>
        </p:nvSpPr>
        <p:spPr bwMode="auto">
          <a:xfrm>
            <a:off x="2148726" y="2492896"/>
            <a:ext cx="576064" cy="1153180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64695BA4-B2BB-2A3D-715C-4E6EB740F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8370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Modelos</a:t>
            </a: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AAA4715D-A574-6E0E-622D-E30EC344B233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B92F4A4A-A680-00B0-8C4B-B0C7B2D8F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</p:spTree>
    <p:extLst>
      <p:ext uri="{BB962C8B-B14F-4D97-AF65-F5344CB8AC3E}">
        <p14:creationId xmlns:p14="http://schemas.microsoft.com/office/powerpoint/2010/main" val="1897189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9941000" y="6276921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808080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0ECE434C-3A76-1B9A-2D21-10983427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4293097"/>
            <a:ext cx="572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treino</a:t>
            </a:r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13114C4A-E9F6-769B-4808-561F0D77E1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830" y="4329120"/>
            <a:ext cx="360000" cy="1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D65E235C-FEBD-1232-1F7B-8FD15AE5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4149081"/>
            <a:ext cx="436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3/4</a:t>
            </a:r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FA53B61B-5B40-629A-D00D-908ED88CF33C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814830" y="5139200"/>
            <a:ext cx="18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DA8E19DA-7D48-DED6-54F7-ECA92017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501317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6DC5D463-E163-2F45-3F76-9156FDE6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3" y="5816298"/>
            <a:ext cx="49981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teste</a:t>
            </a:r>
          </a:p>
        </p:txBody>
      </p:sp>
      <p:sp>
        <p:nvSpPr>
          <p:cNvPr id="16" name="Text Box 29">
            <a:extLst>
              <a:ext uri="{FF2B5EF4-FFF2-40B4-BE49-F238E27FC236}">
                <a16:creationId xmlns:a16="http://schemas.microsoft.com/office/drawing/2014/main" id="{AA057A22-F2CE-E2A7-232A-5DDB9335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ABA72F21-AEAE-3591-5E3C-C499B85B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590" y="2132857"/>
            <a:ext cx="934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Teste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040E1F8D-2F15-9C26-D2F4-50F7431DD571}"/>
              </a:ext>
            </a:extLst>
          </p:cNvPr>
          <p:cNvSpPr/>
          <p:nvPr/>
        </p:nvSpPr>
        <p:spPr bwMode="auto">
          <a:xfrm>
            <a:off x="4308966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0" name="Can 39">
            <a:extLst>
              <a:ext uri="{FF2B5EF4-FFF2-40B4-BE49-F238E27FC236}">
                <a16:creationId xmlns:a16="http://schemas.microsoft.com/office/drawing/2014/main" id="{BED22CE5-DCB8-6ECF-4C5D-CAC41F6152A7}"/>
              </a:ext>
            </a:extLst>
          </p:cNvPr>
          <p:cNvSpPr/>
          <p:nvPr/>
        </p:nvSpPr>
        <p:spPr bwMode="auto">
          <a:xfrm>
            <a:off x="2148726" y="4293096"/>
            <a:ext cx="450000" cy="118264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1" name="Can 40">
            <a:extLst>
              <a:ext uri="{FF2B5EF4-FFF2-40B4-BE49-F238E27FC236}">
                <a16:creationId xmlns:a16="http://schemas.microsoft.com/office/drawing/2014/main" id="{72299155-0C96-F7DB-56EA-247745DEDA45}"/>
              </a:ext>
            </a:extLst>
          </p:cNvPr>
          <p:cNvSpPr>
            <a:spLocks noChangeAspect="1"/>
          </p:cNvSpPr>
          <p:nvPr/>
        </p:nvSpPr>
        <p:spPr bwMode="auto">
          <a:xfrm>
            <a:off x="3156838" y="3861048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2" name="Can 42">
            <a:extLst>
              <a:ext uri="{FF2B5EF4-FFF2-40B4-BE49-F238E27FC236}">
                <a16:creationId xmlns:a16="http://schemas.microsoft.com/office/drawing/2014/main" id="{1A4B3FF6-7DA6-7B67-73A1-37A259E643A1}"/>
              </a:ext>
            </a:extLst>
          </p:cNvPr>
          <p:cNvSpPr>
            <a:spLocks noChangeAspect="1"/>
          </p:cNvSpPr>
          <p:nvPr/>
        </p:nvSpPr>
        <p:spPr bwMode="auto">
          <a:xfrm>
            <a:off x="3156838" y="5384249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5C5844A7-288D-F57D-C4C8-3257C51F59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3888000" cy="194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7" name="Cube 26">
            <a:extLst>
              <a:ext uri="{FF2B5EF4-FFF2-40B4-BE49-F238E27FC236}">
                <a16:creationId xmlns:a16="http://schemas.microsoft.com/office/drawing/2014/main" id="{791B3B77-D984-BCA7-08A7-6C684AAD8909}"/>
              </a:ext>
            </a:extLst>
          </p:cNvPr>
          <p:cNvSpPr/>
          <p:nvPr/>
        </p:nvSpPr>
        <p:spPr bwMode="auto">
          <a:xfrm>
            <a:off x="7477318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E17D6B00-FF38-0FC9-4434-E45F0FD415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3222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6DD38017-796C-6493-6A52-C622B99BC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20" y="343975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EA646E43-7F2C-47ED-75A2-280DA3A2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079" y="2401144"/>
            <a:ext cx="8963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Avaliação</a:t>
            </a: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CC2C16EB-A380-74AB-6859-6EE7531E1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6E2297F-3215-B168-BAC9-496B869C99A0}"/>
              </a:ext>
            </a:extLst>
          </p:cNvPr>
          <p:cNvSpPr/>
          <p:nvPr/>
        </p:nvSpPr>
        <p:spPr bwMode="auto">
          <a:xfrm>
            <a:off x="9061494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51" name="Can 53">
            <a:extLst>
              <a:ext uri="{FF2B5EF4-FFF2-40B4-BE49-F238E27FC236}">
                <a16:creationId xmlns:a16="http://schemas.microsoft.com/office/drawing/2014/main" id="{9B00B881-E7A5-8513-8F2D-B4E6961F4478}"/>
              </a:ext>
            </a:extLst>
          </p:cNvPr>
          <p:cNvSpPr>
            <a:spLocks noChangeAspect="1"/>
          </p:cNvSpPr>
          <p:nvPr/>
        </p:nvSpPr>
        <p:spPr bwMode="auto">
          <a:xfrm>
            <a:off x="9236268" y="2564904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52" name="Line 31">
            <a:extLst>
              <a:ext uri="{FF2B5EF4-FFF2-40B4-BE49-F238E27FC236}">
                <a16:creationId xmlns:a16="http://schemas.microsoft.com/office/drawing/2014/main" id="{BF13A75D-FDE8-A64A-95D6-90041EECA0C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3" name="Line 31">
            <a:extLst>
              <a:ext uri="{FF2B5EF4-FFF2-40B4-BE49-F238E27FC236}">
                <a16:creationId xmlns:a16="http://schemas.microsoft.com/office/drawing/2014/main" id="{56253411-EDAF-256B-0F23-4C0E5575509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691259C9-7F85-FE58-7AE4-A574D4FD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B83F4A44-B0A3-5C0D-5B88-F9A07C8A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56" name="Text Box 29">
            <a:extLst>
              <a:ext uri="{FF2B5EF4-FFF2-40B4-BE49-F238E27FC236}">
                <a16:creationId xmlns:a16="http://schemas.microsoft.com/office/drawing/2014/main" id="{F8C0A46A-B5B1-C3EC-3332-98A1B481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57" name="Line 31">
            <a:extLst>
              <a:ext uri="{FF2B5EF4-FFF2-40B4-BE49-F238E27FC236}">
                <a16:creationId xmlns:a16="http://schemas.microsoft.com/office/drawing/2014/main" id="{2B6F87E5-49DD-59E7-7801-339BDB707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D0A47A3A-CE2D-550C-3B05-B90C118A9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8370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Modelos</a:t>
            </a: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E605F218-E992-B973-F010-51972182FE59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E944B7E8-777B-5E32-4B4B-2BDF22A6CBB3}"/>
              </a:ext>
            </a:extLst>
          </p:cNvPr>
          <p:cNvSpPr/>
          <p:nvPr/>
        </p:nvSpPr>
        <p:spPr bwMode="auto">
          <a:xfrm>
            <a:off x="2148726" y="2492896"/>
            <a:ext cx="576064" cy="1153180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0934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B128C0FD-79D1-FCE6-FDFF-91D8CF6CB86B}"/>
              </a:ext>
            </a:extLst>
          </p:cNvPr>
          <p:cNvSpPr/>
          <p:nvPr/>
        </p:nvSpPr>
        <p:spPr bwMode="auto">
          <a:xfrm>
            <a:off x="2148726" y="2492896"/>
            <a:ext cx="576064" cy="1153180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EF3CD51-7FAF-4DD5-E79B-E80D897F783F}"/>
              </a:ext>
            </a:extLst>
          </p:cNvPr>
          <p:cNvSpPr/>
          <p:nvPr/>
        </p:nvSpPr>
        <p:spPr bwMode="auto">
          <a:xfrm>
            <a:off x="2652782" y="2564904"/>
            <a:ext cx="576064" cy="1153180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0ECE434C-3A76-1B9A-2D21-10983427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4293097"/>
            <a:ext cx="572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treino</a:t>
            </a:r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13114C4A-E9F6-769B-4808-561F0D77E1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830" y="4329120"/>
            <a:ext cx="360000" cy="1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D65E235C-FEBD-1232-1F7B-8FD15AE5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4149081"/>
            <a:ext cx="436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2/4</a:t>
            </a:r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FA53B61B-5B40-629A-D00D-908ED88CF33C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814830" y="5139200"/>
            <a:ext cx="18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DA8E19DA-7D48-DED6-54F7-ECA92017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501317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6DC5D463-E163-2F45-3F76-9156FDE6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3" y="5816298"/>
            <a:ext cx="49981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teste</a:t>
            </a:r>
          </a:p>
        </p:txBody>
      </p:sp>
      <p:sp>
        <p:nvSpPr>
          <p:cNvPr id="16" name="Text Box 29">
            <a:extLst>
              <a:ext uri="{FF2B5EF4-FFF2-40B4-BE49-F238E27FC236}">
                <a16:creationId xmlns:a16="http://schemas.microsoft.com/office/drawing/2014/main" id="{AA057A22-F2CE-E2A7-232A-5DDB9335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ABA72F21-AEAE-3591-5E3C-C499B85B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590" y="2132857"/>
            <a:ext cx="934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Teste</a:t>
            </a:r>
          </a:p>
        </p:txBody>
      </p:sp>
      <p:sp>
        <p:nvSpPr>
          <p:cNvPr id="18" name="Text Box 29">
            <a:extLst>
              <a:ext uri="{FF2B5EF4-FFF2-40B4-BE49-F238E27FC236}">
                <a16:creationId xmlns:a16="http://schemas.microsoft.com/office/drawing/2014/main" id="{B41A5F79-8C90-9F58-62AB-A63B8D79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040E1F8D-2F15-9C26-D2F4-50F7431DD571}"/>
              </a:ext>
            </a:extLst>
          </p:cNvPr>
          <p:cNvSpPr/>
          <p:nvPr/>
        </p:nvSpPr>
        <p:spPr bwMode="auto">
          <a:xfrm>
            <a:off x="4308966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0" name="Can 39">
            <a:extLst>
              <a:ext uri="{FF2B5EF4-FFF2-40B4-BE49-F238E27FC236}">
                <a16:creationId xmlns:a16="http://schemas.microsoft.com/office/drawing/2014/main" id="{BED22CE5-DCB8-6ECF-4C5D-CAC41F6152A7}"/>
              </a:ext>
            </a:extLst>
          </p:cNvPr>
          <p:cNvSpPr/>
          <p:nvPr/>
        </p:nvSpPr>
        <p:spPr bwMode="auto">
          <a:xfrm>
            <a:off x="2148726" y="4293096"/>
            <a:ext cx="450000" cy="118264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1" name="Can 40">
            <a:extLst>
              <a:ext uri="{FF2B5EF4-FFF2-40B4-BE49-F238E27FC236}">
                <a16:creationId xmlns:a16="http://schemas.microsoft.com/office/drawing/2014/main" id="{72299155-0C96-F7DB-56EA-247745DEDA45}"/>
              </a:ext>
            </a:extLst>
          </p:cNvPr>
          <p:cNvSpPr>
            <a:spLocks noChangeAspect="1"/>
          </p:cNvSpPr>
          <p:nvPr/>
        </p:nvSpPr>
        <p:spPr bwMode="auto">
          <a:xfrm>
            <a:off x="3156838" y="3861048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2" name="Can 42">
            <a:extLst>
              <a:ext uri="{FF2B5EF4-FFF2-40B4-BE49-F238E27FC236}">
                <a16:creationId xmlns:a16="http://schemas.microsoft.com/office/drawing/2014/main" id="{1A4B3FF6-7DA6-7B67-73A1-37A259E643A1}"/>
              </a:ext>
            </a:extLst>
          </p:cNvPr>
          <p:cNvSpPr>
            <a:spLocks noChangeAspect="1"/>
          </p:cNvSpPr>
          <p:nvPr/>
        </p:nvSpPr>
        <p:spPr bwMode="auto">
          <a:xfrm>
            <a:off x="3156838" y="5384249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344AECC9-D6E1-CAD0-9B33-E727BD767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8370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Modelos</a:t>
            </a: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B19F5C67-08C8-319F-4165-BC6D2A66B37A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5C5844A7-288D-F57D-C4C8-3257C51F59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3888000" cy="194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7" name="Cube 26">
            <a:extLst>
              <a:ext uri="{FF2B5EF4-FFF2-40B4-BE49-F238E27FC236}">
                <a16:creationId xmlns:a16="http://schemas.microsoft.com/office/drawing/2014/main" id="{791B3B77-D984-BCA7-08A7-6C684AAD8909}"/>
              </a:ext>
            </a:extLst>
          </p:cNvPr>
          <p:cNvSpPr/>
          <p:nvPr/>
        </p:nvSpPr>
        <p:spPr bwMode="auto">
          <a:xfrm>
            <a:off x="7477318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54189133-DFF0-B772-C37D-07C4991B3374}"/>
              </a:ext>
            </a:extLst>
          </p:cNvPr>
          <p:cNvSpPr/>
          <p:nvPr/>
        </p:nvSpPr>
        <p:spPr bwMode="auto">
          <a:xfrm>
            <a:off x="9061494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29" name="Line 31">
            <a:extLst>
              <a:ext uri="{FF2B5EF4-FFF2-40B4-BE49-F238E27FC236}">
                <a16:creationId xmlns:a16="http://schemas.microsoft.com/office/drawing/2014/main" id="{BDD0B19B-E52D-7B6D-089C-D0A79C122F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7038" y="3573016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E17D6B00-FF38-0FC9-4434-E45F0FD415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3222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1" name="Can 53">
            <a:extLst>
              <a:ext uri="{FF2B5EF4-FFF2-40B4-BE49-F238E27FC236}">
                <a16:creationId xmlns:a16="http://schemas.microsoft.com/office/drawing/2014/main" id="{8CE6CCBE-9F4B-3326-D325-513090015111}"/>
              </a:ext>
            </a:extLst>
          </p:cNvPr>
          <p:cNvSpPr>
            <a:spLocks noChangeAspect="1"/>
          </p:cNvSpPr>
          <p:nvPr/>
        </p:nvSpPr>
        <p:spPr bwMode="auto">
          <a:xfrm>
            <a:off x="9236268" y="2564904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E0FF1C8A-9FFF-6DDF-9688-C92C47BCF60C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F866C931-6E0D-F5B6-CDE2-5D11EA0D9527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EFA1D60F-ACD2-6094-4E43-0C8DBD52E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EAB0F8CB-C056-2ED0-7E7F-2C564C48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36" name="Line 31">
            <a:extLst>
              <a:ext uri="{FF2B5EF4-FFF2-40B4-BE49-F238E27FC236}">
                <a16:creationId xmlns:a16="http://schemas.microsoft.com/office/drawing/2014/main" id="{CE70F70C-E00A-5EAE-8819-239A52BD7719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957038" y="3717032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6DD38017-796C-6493-6A52-C622B99BC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20" y="343975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38" name="Text Box 29">
            <a:extLst>
              <a:ext uri="{FF2B5EF4-FFF2-40B4-BE49-F238E27FC236}">
                <a16:creationId xmlns:a16="http://schemas.microsoft.com/office/drawing/2014/main" id="{7670ADD0-9CB7-3FE8-F83E-EA37F9D29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40" name="Text Box 29">
            <a:extLst>
              <a:ext uri="{FF2B5EF4-FFF2-40B4-BE49-F238E27FC236}">
                <a16:creationId xmlns:a16="http://schemas.microsoft.com/office/drawing/2014/main" id="{ACCB09BC-7D92-EF3D-62BA-F3F5C888E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02" y="2132857"/>
            <a:ext cx="12046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Afinação</a:t>
            </a:r>
          </a:p>
        </p:txBody>
      </p:sp>
      <p:sp>
        <p:nvSpPr>
          <p:cNvPr id="41" name="Text Box 29">
            <a:extLst>
              <a:ext uri="{FF2B5EF4-FFF2-40B4-BE49-F238E27FC236}">
                <a16:creationId xmlns:a16="http://schemas.microsoft.com/office/drawing/2014/main" id="{FB0029D4-6753-F597-575A-41BD503F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5085185"/>
            <a:ext cx="7874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validação</a:t>
            </a:r>
          </a:p>
        </p:txBody>
      </p:sp>
      <p:sp>
        <p:nvSpPr>
          <p:cNvPr id="42" name="Can 64">
            <a:extLst>
              <a:ext uri="{FF2B5EF4-FFF2-40B4-BE49-F238E27FC236}">
                <a16:creationId xmlns:a16="http://schemas.microsoft.com/office/drawing/2014/main" id="{F33A9CD8-83E3-DA78-6740-DA52B68F9D62}"/>
              </a:ext>
            </a:extLst>
          </p:cNvPr>
          <p:cNvSpPr>
            <a:spLocks noChangeAspect="1"/>
          </p:cNvSpPr>
          <p:nvPr/>
        </p:nvSpPr>
        <p:spPr bwMode="auto">
          <a:xfrm>
            <a:off x="3156838" y="4653136"/>
            <a:ext cx="225000" cy="109424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43" name="Line 31">
            <a:extLst>
              <a:ext uri="{FF2B5EF4-FFF2-40B4-BE49-F238E27FC236}">
                <a16:creationId xmlns:a16="http://schemas.microsoft.com/office/drawing/2014/main" id="{29DF4926-8DD5-2248-E3F7-C253B2F09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790" y="4869160"/>
            <a:ext cx="36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Box 26">
            <a:extLst>
              <a:ext uri="{FF2B5EF4-FFF2-40B4-BE49-F238E27FC236}">
                <a16:creationId xmlns:a16="http://schemas.microsoft.com/office/drawing/2014/main" id="{2714D106-CF56-EF1F-A6C1-35E87B99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782" y="4581129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45" name="Line 31">
            <a:extLst>
              <a:ext uri="{FF2B5EF4-FFF2-40B4-BE49-F238E27FC236}">
                <a16:creationId xmlns:a16="http://schemas.microsoft.com/office/drawing/2014/main" id="{0378890F-E4D2-EB6D-BD05-9C2B7B13DA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2304000" cy="115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6" name="Cube 45">
            <a:extLst>
              <a:ext uri="{FF2B5EF4-FFF2-40B4-BE49-F238E27FC236}">
                <a16:creationId xmlns:a16="http://schemas.microsoft.com/office/drawing/2014/main" id="{B917E564-7A3C-1DD1-2C40-39DCE2B6531F}"/>
              </a:ext>
            </a:extLst>
          </p:cNvPr>
          <p:cNvSpPr/>
          <p:nvPr/>
        </p:nvSpPr>
        <p:spPr bwMode="auto">
          <a:xfrm>
            <a:off x="5893142" y="3356992"/>
            <a:ext cx="576064" cy="115318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47" name="Cube 46">
            <a:extLst>
              <a:ext uri="{FF2B5EF4-FFF2-40B4-BE49-F238E27FC236}">
                <a16:creationId xmlns:a16="http://schemas.microsoft.com/office/drawing/2014/main" id="{FF1C8608-4BF6-0E55-ED5E-836878D88CC8}"/>
              </a:ext>
            </a:extLst>
          </p:cNvPr>
          <p:cNvSpPr/>
          <p:nvPr/>
        </p:nvSpPr>
        <p:spPr bwMode="auto">
          <a:xfrm>
            <a:off x="2292742" y="2780928"/>
            <a:ext cx="576064" cy="1153180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DF5A9C51-BE11-D37F-5A92-448B1ACAEE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EA646E43-7F2C-47ED-75A2-280DA3A2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079" y="2401144"/>
            <a:ext cx="8963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Avaliação</a:t>
            </a: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</p:spTree>
    <p:extLst>
      <p:ext uri="{BB962C8B-B14F-4D97-AF65-F5344CB8AC3E}">
        <p14:creationId xmlns:p14="http://schemas.microsoft.com/office/powerpoint/2010/main" val="2366604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7A8DCAC9-AF69-736C-8F70-21E49E64D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2077767"/>
                <a:ext cx="7920432" cy="16976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Root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Mean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Square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Error (RMSE) </a:t>
                </a:r>
              </a:p>
              <a:p>
                <a:pPr algn="just">
                  <a:spcBef>
                    <a:spcPts val="6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RMSE </a:t>
                </a:r>
                <a14:m>
                  <m:oMath xmlns:m="http://schemas.openxmlformats.org/officeDocument/2006/math">
                    <m:r>
                      <a:rPr lang="pt-PT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lin"/>
                                <m:ctrlP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pt-PT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PT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nary>
                      </m:e>
                    </m:rad>
                  </m:oMath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/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Mean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Absoute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Error (MAE)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MAE </a:t>
                </a:r>
                <a14:m>
                  <m:oMath xmlns:m="http://schemas.openxmlformats.org/officeDocument/2006/math">
                    <m:r>
                      <a:rPr lang="pt-PT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lin"/>
                            <m:ctrl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7A8DCAC9-AF69-736C-8F70-21E49E64D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2077767"/>
                <a:ext cx="7920432" cy="1697644"/>
              </a:xfrm>
              <a:prstGeom prst="rect">
                <a:avLst/>
              </a:prstGeom>
              <a:blipFill>
                <a:blip r:embed="rId3"/>
                <a:stretch>
                  <a:fillRect l="-847" t="-7554" b="-3884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09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Métricas: variável contínua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52" name="Text Box 376">
            <a:extLst>
              <a:ext uri="{FF2B5EF4-FFF2-40B4-BE49-F238E27FC236}">
                <a16:creationId xmlns:a16="http://schemas.microsoft.com/office/drawing/2014/main" id="{3050C463-7E2A-1339-FF04-3CA3C1213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3985246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Métricas: variável categórica (binária)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B9D80B17-927C-FFBA-E4FC-DA57792B2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4508593"/>
                <a:ext cx="8136906" cy="1477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True Positive Rate (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/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False Positive Rate (1 -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B9D80B17-927C-FFBA-E4FC-DA57792B2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4508593"/>
                <a:ext cx="8136906" cy="1477328"/>
              </a:xfrm>
              <a:prstGeom prst="rect">
                <a:avLst/>
              </a:prstGeom>
              <a:blipFill>
                <a:blip r:embed="rId4"/>
                <a:stretch>
                  <a:fillRect l="-825" t="-11157" b="-479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01DDF64A-7AFF-99C4-D7D9-25DE1672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236471"/>
              </p:ext>
            </p:extLst>
          </p:nvPr>
        </p:nvGraphicFramePr>
        <p:xfrm>
          <a:off x="6096314" y="4506069"/>
          <a:ext cx="4104144" cy="147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48">
                  <a:extLst>
                    <a:ext uri="{9D8B030D-6E8A-4147-A177-3AD203B41FA5}">
                      <a16:colId xmlns:a16="http://schemas.microsoft.com/office/drawing/2014/main" val="1470594638"/>
                    </a:ext>
                  </a:extLst>
                </a:gridCol>
                <a:gridCol w="1152048">
                  <a:extLst>
                    <a:ext uri="{9D8B030D-6E8A-4147-A177-3AD203B41FA5}">
                      <a16:colId xmlns:a16="http://schemas.microsoft.com/office/drawing/2014/main" val="2333174679"/>
                    </a:ext>
                  </a:extLst>
                </a:gridCol>
                <a:gridCol w="1152048">
                  <a:extLst>
                    <a:ext uri="{9D8B030D-6E8A-4147-A177-3AD203B41FA5}">
                      <a16:colId xmlns:a16="http://schemas.microsoft.com/office/drawing/2014/main" val="36315079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33873468"/>
                    </a:ext>
                  </a:extLst>
                </a:gridCol>
              </a:tblGrid>
              <a:tr h="369963">
                <a:tc>
                  <a:txBody>
                    <a:bodyPr/>
                    <a:lstStyle/>
                    <a:p>
                      <a:pPr algn="ctr"/>
                      <a:endParaRPr lang="pt-PT" sz="175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750" dirty="0" err="1"/>
                        <a:t>Predicted</a:t>
                      </a:r>
                      <a:r>
                        <a:rPr lang="pt-PT" sz="1750" dirty="0"/>
                        <a:t> (p = 0.50)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pt-PT" sz="175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871798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Real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7646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P.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N.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P.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96222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P.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N.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N.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5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756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Curva de ROC (</a:t>
            </a:r>
            <a:r>
              <a:rPr lang="pt-PT" sz="2800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Receiver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Operating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Characteristics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pic>
        <p:nvPicPr>
          <p:cNvPr id="5" name="Picture 4" descr="A diagram of a positive curve&#10;&#10;Description automatically generated">
            <a:extLst>
              <a:ext uri="{FF2B5EF4-FFF2-40B4-BE49-F238E27FC236}">
                <a16:creationId xmlns:a16="http://schemas.microsoft.com/office/drawing/2014/main" id="{C191EC24-D923-7E50-72DA-9DDBB2185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1988840"/>
            <a:ext cx="4114800" cy="411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6CCC12-43F8-75B8-22E5-C5576594F0F3}"/>
              </a:ext>
            </a:extLst>
          </p:cNvPr>
          <p:cNvSpPr/>
          <p:nvPr/>
        </p:nvSpPr>
        <p:spPr>
          <a:xfrm rot="-5400000">
            <a:off x="8183153" y="4133545"/>
            <a:ext cx="36198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chemeClr val="tx1"/>
                </a:solidFill>
              </a:rPr>
              <a:t>M. Thoma (2018)</a:t>
            </a:r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3FF8CBA6-44D3-E48F-7974-13295FF83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2138477"/>
            <a:ext cx="792043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PT" sz="2000" dirty="0" err="1">
                <a:solidFill>
                  <a:schemeClr val="tx1"/>
                </a:solidFill>
                <a:latin typeface="Humnst777 BT"/>
              </a:rPr>
              <a:t>Trade-off</a:t>
            </a:r>
            <a:r>
              <a:rPr lang="pt-PT" sz="2000" dirty="0">
                <a:solidFill>
                  <a:schemeClr val="tx1"/>
                </a:solidFill>
                <a:latin typeface="Humnst777 BT"/>
              </a:rPr>
              <a:t>:</a:t>
            </a:r>
          </a:p>
          <a:p>
            <a:pPr algn="just"/>
            <a:r>
              <a:rPr lang="pt-PT" sz="2000" dirty="0" err="1">
                <a:solidFill>
                  <a:schemeClr val="tx1"/>
                </a:solidFill>
                <a:latin typeface="Humnst777 BT"/>
              </a:rPr>
              <a:t>Sensitivity</a:t>
            </a:r>
            <a:r>
              <a:rPr lang="pt-PT" sz="2000" dirty="0">
                <a:solidFill>
                  <a:schemeClr val="tx1"/>
                </a:solidFill>
                <a:latin typeface="Humnst777 BT"/>
              </a:rPr>
              <a:t> vs. </a:t>
            </a:r>
            <a:r>
              <a:rPr lang="pt-PT" sz="2000" dirty="0" err="1">
                <a:solidFill>
                  <a:schemeClr val="tx1"/>
                </a:solidFill>
                <a:latin typeface="Humnst777 BT"/>
              </a:rPr>
              <a:t>Specificity</a:t>
            </a:r>
            <a:endParaRPr lang="pt-PT" sz="2000" dirty="0">
              <a:solidFill>
                <a:schemeClr val="tx1"/>
              </a:solidFill>
              <a:latin typeface="Humnst777 B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13">
                <a:extLst>
                  <a:ext uri="{FF2B5EF4-FFF2-40B4-BE49-F238E27FC236}">
                    <a16:creationId xmlns:a16="http://schemas.microsoft.com/office/drawing/2014/main" id="{A74B1FF7-9489-83BD-B2C2-2EEBE8947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4508593"/>
                <a:ext cx="8136906" cy="1477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True Positive Rate (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/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False Positive Rate (1 -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6" name="Text Box 13">
                <a:extLst>
                  <a:ext uri="{FF2B5EF4-FFF2-40B4-BE49-F238E27FC236}">
                    <a16:creationId xmlns:a16="http://schemas.microsoft.com/office/drawing/2014/main" id="{A74B1FF7-9489-83BD-B2C2-2EEBE8947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4508593"/>
                <a:ext cx="8136906" cy="1477328"/>
              </a:xfrm>
              <a:prstGeom prst="rect">
                <a:avLst/>
              </a:prstGeom>
              <a:blipFill>
                <a:blip r:embed="rId4"/>
                <a:stretch>
                  <a:fillRect l="-825" t="-11157" b="-479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130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280285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Box 376"/>
          <p:cNvSpPr txBox="1">
            <a:spLocks noChangeArrowheads="1"/>
          </p:cNvSpPr>
          <p:nvPr/>
        </p:nvSpPr>
        <p:spPr bwMode="auto">
          <a:xfrm>
            <a:off x="2206626" y="15137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Gestão de </a:t>
            </a:r>
            <a:r>
              <a:rPr lang="pt-PT" sz="2800" dirty="0" err="1">
                <a:solidFill>
                  <a:srgbClr val="808080"/>
                </a:solidFill>
                <a:latin typeface="Humnst777 BT" pitchFamily="34" charset="0"/>
              </a:rPr>
              <a:t>projectos</a:t>
            </a:r>
            <a:endParaRPr lang="pt-PT" sz="2800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064000" y="2160001"/>
            <a:ext cx="806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Estrutura de pastas;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Ficheiro README (e nomeação de ficheiros);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Controlo de versões (e.g. github.com, git.ine.pt).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C816A0FC-9989-00D0-7D80-27C79185F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3199126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01BB25-96F3-CABB-18F1-00A2CC1A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6" y="2133600"/>
            <a:ext cx="6411220" cy="3991532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37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Estrutura de pastas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E4998D98-DF15-38AD-4EF0-54D13D81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133061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932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Ficheiro README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38367"/>
            <a:ext cx="8064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#autor:  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Joao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Sollari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Lopes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#local:      INE, Lisboa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#criado:     28.08.2025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#modificado: 13.12.2025</a:t>
            </a:r>
          </a:p>
          <a:p>
            <a:pPr algn="just">
              <a:spcBef>
                <a:spcPts val="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+bin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|0.examples.r                         #exemplos para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recapitulacao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|0.install_packages.r                 #instalar pacotes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necessarios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|1.transform.r                        #transformacao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|2.exploration.r                      #exploração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|3.modelling.r                        #modelacao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docs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|DSR-II2025_program.pdf               #programa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|DSR-II2025_slides.pdf                #slides [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versao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final]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|DSR-II2025_slides_20250828.pptx      #slides [v2025-08-28]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|DSR-II2025_slides_20251213.pptx      #slides [v2025-12-13]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results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+1.tranform                           #resultados de "1.transform.r"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+2.exploration                        #resultados de "2.exploration.r"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+3.modelling                          #resultados de "3.modelling.r"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README.txt                              #Este ficheiro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3E1FEC60-8B5D-CCEB-E2A3-AB39693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71773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932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Controlo de versões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3E1FEC60-8B5D-CCEB-E2A3-AB39693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95963E0-5EC7-7BB5-A8A1-1F78FEF0D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5" y="2133600"/>
            <a:ext cx="797353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02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206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Comunidade R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064000" y="2160001"/>
            <a:ext cx="8064000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 https://www.tidyverse.org/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https://www.tidymodels.org/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5"/>
              </a:rPr>
              <a:t>https://education.rstudio.com/learn/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6"/>
              </a:rPr>
              <a:t>https://www.r-project.org/help.html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7"/>
              </a:rPr>
              <a:t> 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8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9"/>
              </a:rPr>
              <a:t>https://hour.ine.pt/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  <p:pic>
        <p:nvPicPr>
          <p:cNvPr id="3" name="Picture 2" descr="A clock with a blue and black text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FE0D96AC-6A67-A5F9-F83D-6DF55E8DF4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7" y="5157192"/>
            <a:ext cx="941163" cy="92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Informações finais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2064000" y="2132856"/>
            <a:ext cx="806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rgbClr val="CC301F"/>
                </a:solidFill>
                <a:latin typeface="Humnst777 BT"/>
              </a:rPr>
              <a:t>»</a:t>
            </a:r>
            <a:r>
              <a:rPr lang="pt-PT" sz="1800" dirty="0">
                <a:solidFill>
                  <a:schemeClr val="tx1"/>
                </a:solidFill>
                <a:latin typeface="Humnst777 B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Wickham H &amp; </a:t>
            </a:r>
            <a:r>
              <a:rPr lang="en-US" sz="1800" dirty="0" err="1">
                <a:solidFill>
                  <a:schemeClr val="tx1"/>
                </a:solidFill>
                <a:latin typeface="Humnst777 BT"/>
              </a:rPr>
              <a:t>Grolemund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G (2017) R for Data Science. </a:t>
            </a:r>
            <a:r>
              <a:rPr lang="pt-PT" sz="1800" dirty="0">
                <a:solidFill>
                  <a:schemeClr val="tx1"/>
                </a:solidFill>
              </a:rPr>
              <a:t>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/>
                </a:solidFill>
              </a:rPr>
              <a:t>URL:</a:t>
            </a:r>
            <a:r>
              <a:rPr lang="pt-PT" sz="1800" dirty="0">
                <a:solidFill>
                  <a:srgbClr val="002060"/>
                </a:solidFill>
              </a:rPr>
              <a:t> </a:t>
            </a:r>
            <a:r>
              <a:rPr lang="pt-PT" sz="1800" dirty="0">
                <a:solidFill>
                  <a:srgbClr val="002060"/>
                </a:solidFill>
                <a:hlinkClick r:id="rId2"/>
              </a:rPr>
              <a:t>https://r4ds.had.co.nz/</a:t>
            </a: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rgbClr val="CC301F"/>
                </a:solidFill>
                <a:latin typeface="Humnst777 BT"/>
              </a:rPr>
              <a:t>»</a:t>
            </a:r>
            <a:r>
              <a:rPr lang="pt-PT" sz="1800" dirty="0">
                <a:solidFill>
                  <a:schemeClr val="tx1"/>
                </a:solidFill>
                <a:latin typeface="Humnst777 B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Wickham H, </a:t>
            </a:r>
            <a:r>
              <a:rPr lang="nl-NL" sz="1800" dirty="0">
                <a:solidFill>
                  <a:schemeClr val="tx1"/>
                </a:solidFill>
              </a:rPr>
              <a:t>Çetinkaya-Rundel M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&amp; </a:t>
            </a:r>
            <a:r>
              <a:rPr lang="en-US" sz="1800" dirty="0" err="1">
                <a:solidFill>
                  <a:schemeClr val="tx1"/>
                </a:solidFill>
                <a:latin typeface="Humnst777 BT"/>
              </a:rPr>
              <a:t>Grolemund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G (2023) R for Data Science. </a:t>
            </a:r>
            <a:r>
              <a:rPr lang="pt-PT" sz="1800" dirty="0">
                <a:solidFill>
                  <a:schemeClr val="tx1"/>
                </a:solidFill>
              </a:rPr>
              <a:t>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 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/>
                </a:solidFill>
              </a:rPr>
              <a:t>URL: </a:t>
            </a:r>
            <a:r>
              <a:rPr lang="pt-PT" sz="1800" dirty="0">
                <a:solidFill>
                  <a:srgbClr val="002060"/>
                </a:solidFill>
                <a:hlinkClick r:id="rId3"/>
              </a:rPr>
              <a:t>https://r4ds.hadley.nz/</a:t>
            </a: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rgbClr val="002060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063552" y="1506793"/>
            <a:ext cx="0" cy="45144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EB0C4CC-07A0-8173-2EF9-6B7EE194A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06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Bibliografia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63111</TotalTime>
  <Words>3054</Words>
  <Application>Microsoft Office PowerPoint</Application>
  <PresentationFormat>Widescreen</PresentationFormat>
  <Paragraphs>526</Paragraphs>
  <Slides>43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Century Gothic</vt:lpstr>
      <vt:lpstr>Courier New</vt:lpstr>
      <vt:lpstr>Humanst521 BT</vt:lpstr>
      <vt:lpstr>Humnst777 BT</vt:lpstr>
      <vt:lpstr>Wingdings</vt:lpstr>
      <vt:lpstr>Default Design</vt:lpstr>
      <vt:lpstr>Custom Design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2938</cp:revision>
  <dcterms:created xsi:type="dcterms:W3CDTF">2004-01-14T16:14:16Z</dcterms:created>
  <dcterms:modified xsi:type="dcterms:W3CDTF">2025-12-09T16:33:08Z</dcterms:modified>
</cp:coreProperties>
</file>