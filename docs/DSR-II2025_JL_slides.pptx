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</p:sldMasterIdLst>
  <p:notesMasterIdLst>
    <p:notesMasterId r:id="rId46"/>
  </p:notesMasterIdLst>
  <p:handoutMasterIdLst>
    <p:handoutMasterId r:id="rId47"/>
  </p:handoutMasterIdLst>
  <p:sldIdLst>
    <p:sldId id="803" r:id="rId3"/>
    <p:sldId id="1387" r:id="rId4"/>
    <p:sldId id="1382" r:id="rId5"/>
    <p:sldId id="1332" r:id="rId6"/>
    <p:sldId id="1375" r:id="rId7"/>
    <p:sldId id="1384" r:id="rId8"/>
    <p:sldId id="1366" r:id="rId9"/>
    <p:sldId id="1094" r:id="rId10"/>
    <p:sldId id="1364" r:id="rId11"/>
    <p:sldId id="1369" r:id="rId12"/>
    <p:sldId id="1365" r:id="rId13"/>
    <p:sldId id="1385" r:id="rId14"/>
    <p:sldId id="1128" r:id="rId15"/>
    <p:sldId id="1076" r:id="rId16"/>
    <p:sldId id="1363" r:id="rId17"/>
    <p:sldId id="1367" r:id="rId18"/>
    <p:sldId id="1386" r:id="rId19"/>
    <p:sldId id="1271" r:id="rId20"/>
    <p:sldId id="1368" r:id="rId21"/>
    <p:sldId id="1370" r:id="rId22"/>
    <p:sldId id="1361" r:id="rId23"/>
    <p:sldId id="1371" r:id="rId24"/>
    <p:sldId id="1372" r:id="rId25"/>
    <p:sldId id="1390" r:id="rId26"/>
    <p:sldId id="1389" r:id="rId27"/>
    <p:sldId id="1388" r:id="rId28"/>
    <p:sldId id="1391" r:id="rId29"/>
    <p:sldId id="1392" r:id="rId30"/>
    <p:sldId id="1393" r:id="rId31"/>
    <p:sldId id="1394" r:id="rId32"/>
    <p:sldId id="1395" r:id="rId33"/>
    <p:sldId id="1376" r:id="rId34"/>
    <p:sldId id="1379" r:id="rId35"/>
    <p:sldId id="1377" r:id="rId36"/>
    <p:sldId id="1380" r:id="rId37"/>
    <p:sldId id="1378" r:id="rId38"/>
    <p:sldId id="1357" r:id="rId39"/>
    <p:sldId id="1327" r:id="rId40"/>
    <p:sldId id="1329" r:id="rId41"/>
    <p:sldId id="1328" r:id="rId42"/>
    <p:sldId id="1396" r:id="rId43"/>
    <p:sldId id="1383" r:id="rId44"/>
    <p:sldId id="1067" r:id="rId45"/>
  </p:sldIdLst>
  <p:sldSz cx="9144000" cy="6858000" type="screen4x3"/>
  <p:notesSz cx="6811963" cy="9942513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4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2" autoAdjust="0"/>
    <p:restoredTop sz="93691" autoAdjust="0"/>
  </p:normalViewPr>
  <p:slideViewPr>
    <p:cSldViewPr>
      <p:cViewPr varScale="1">
        <p:scale>
          <a:sx n="91" d="100"/>
          <a:sy n="91" d="100"/>
        </p:scale>
        <p:origin x="270" y="96"/>
      </p:cViewPr>
      <p:guideLst>
        <p:guide orient="horz" pos="1344"/>
        <p:guide pos="5465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32"/>
        <p:guide pos="214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8536" y="0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0" y="744538"/>
            <a:ext cx="4970463" cy="37290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197" y="4722377"/>
            <a:ext cx="5449570" cy="4475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8536" y="9443169"/>
            <a:ext cx="2951851" cy="49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11" tIns="45555" rIns="91111" bIns="45555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8325294" y="6163979"/>
            <a:ext cx="72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3779912" y="6164408"/>
            <a:ext cx="2808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6587911" y="6176009"/>
            <a:ext cx="1670517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8027988" y="6215453"/>
            <a:ext cx="4699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468313" y="765175"/>
            <a:ext cx="215900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757238" y="765175"/>
            <a:ext cx="287337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116013" y="765175"/>
            <a:ext cx="865187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052638" y="765175"/>
            <a:ext cx="576262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828675" y="909638"/>
            <a:ext cx="576263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0825" y="6237288"/>
            <a:ext cx="363537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179512" y="260648"/>
            <a:ext cx="1872889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57186" y="6203895"/>
            <a:ext cx="2350294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021" y="6082427"/>
            <a:ext cx="4067870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73891" y="6226318"/>
            <a:ext cx="712923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transformation.html" TargetMode="External"/><Relationship Id="rId2" Type="http://schemas.openxmlformats.org/officeDocument/2006/relationships/hyperlink" Target="https://dplyr.tidyverse.org/reference/index.html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studio.github.io/cheatsheets/html/data-visualization.html" TargetMode="External"/><Relationship Id="rId2" Type="http://schemas.openxmlformats.org/officeDocument/2006/relationships/hyperlink" Target="https://ggplot2.tidyverse.org/reference/index.html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hyperlink" Target="https://www.datacamp.com/tutorial/linear-regression-R" TargetMode="Externa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1321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2545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Pedro Sousa e </a:t>
            </a: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3563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Dezembro 2025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1321666" y="1196752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Data </a:t>
            </a:r>
            <a:r>
              <a:rPr lang="pt-PT" sz="3200" dirty="0" err="1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Science</a:t>
            </a: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 com R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539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1187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220590" y="1556792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1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39" y="2132617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08731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e 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/>
          <p:nvPr/>
        </p:nvCxnSpPr>
        <p:spPr bwMode="auto">
          <a:xfrm>
            <a:off x="3131840" y="1719858"/>
            <a:ext cx="252028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2195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2915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https://rstudio.github.io/cheatsheets/html/data-transformation.html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dplyer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2339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2987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2483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3203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marL="342900" indent="-342900"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https://ggplot2.tidyverse.org/reference/index.html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https://rstudio.github.io/cheatsheets/html/data-visualization.html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84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1187624" y="1557338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1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128" y="1557338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e 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3563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4139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4788024" y="4634086"/>
            <a:ext cx="108012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https://www.datacamp.com/tutorial/linear-regression-R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filter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 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outliers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in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1000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                   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factor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ordered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make variable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into factor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 </a:t>
            </a:r>
            <a:r>
              <a:rPr lang="pt-PT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specify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diamonds2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to data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25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Min       1Q   Median       3Q      Max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-0.33696 -0.06961  0.00255  0.07358  0.36898 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Coefficients: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Estimate Std. Error t value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3.56450    0.02020 176.449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1.70134    0.01384 122.938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fct_cutGood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0.07818    0.02347   3.331 0.000896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fct_cutVery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Good  0.09259    0.02164   4.279 2.06e-05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fct_cutPremium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0.08857    0.02144   4.131 3.91e-05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fct_cutIdeal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0.12437    0.02111   5.891 5.24e-09 ***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0.9396,	Adjusted R-squared:  0.9393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F-statistic:  3093 on 5 and 994 DF,  p-value: &lt; 2.2e-16</a:t>
            </a:r>
          </a:p>
        </p:txBody>
      </p:sp>
      <p:sp>
        <p:nvSpPr>
          <p:cNvPr id="6" name="Text Box 376">
            <a:extLst>
              <a:ext uri="{FF2B5EF4-FFF2-40B4-BE49-F238E27FC236}">
                <a16:creationId xmlns:a16="http://schemas.microsoft.com/office/drawing/2014/main" id="{EF5EDE88-3FFB-814C-F7E8-110E916C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064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7920432" cy="2708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MLR.1 O modelo é linear nos parâmetros;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MLR.2 Amostra aleatória (e.g.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outliers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, valores omissos aleatórios);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MLR.3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multicolinearidade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entre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MLR.4 Erro com valor esperado zero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MLR.5 Erro com variância constante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MLR.6 Erro é independente dos preditores e tem distribuição normal.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584" y="5330099"/>
            <a:ext cx="78177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Wooldridge J, Introductory Econometrics: A Modern Approach, 7 ed. Thomson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</p:spTree>
    <p:extLst>
      <p:ext uri="{BB962C8B-B14F-4D97-AF65-F5344CB8AC3E}">
        <p14:creationId xmlns:p14="http://schemas.microsoft.com/office/powerpoint/2010/main" val="17916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"performance"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check_model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check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MLR.1 The population model is linear in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"linearity"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MLR.3 No multicollinearity between predictors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vif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MLR.5 The error has constant variance given any values of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"homogeneity"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MLR.6 The error is independent of the predictors and is normally distributed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qq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8A4B67A1-D88D-380F-F20F-09F8E9EED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3079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blue dots&#10;&#10;Description automatically generated">
            <a:extLst>
              <a:ext uri="{FF2B5EF4-FFF2-40B4-BE49-F238E27FC236}">
                <a16:creationId xmlns:a16="http://schemas.microsoft.com/office/drawing/2014/main" id="{8EDCBB99-8BDF-E903-ABE5-ECD994B60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844" y="2127069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1EEBEC2F-ADA3-3BD0-9E07-422D6A435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929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blue line and black dots&#10;&#10;Description automatically generated">
            <a:extLst>
              <a:ext uri="{FF2B5EF4-FFF2-40B4-BE49-F238E27FC236}">
                <a16:creationId xmlns:a16="http://schemas.microsoft.com/office/drawing/2014/main" id="{FC36B86D-8204-A3A9-47C3-2DD335884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65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"#F8766D"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"#00BFC4"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5D490F25-C853-D2EC-10EC-2A2F1C1AD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1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geom_hline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yintercept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dashed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E57D83E8-252F-8515-2C55-C86570D1AC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473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x3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across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as.factor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margin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branch.lwd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branch.col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minlength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use.n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fancy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fwidth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fheight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font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41FE373F-87EA-14B1-DF58-E4A335B79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203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36E2297F-3215-B168-BAC9-496B869C99A0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53">
            <a:extLst>
              <a:ext uri="{FF2B5EF4-FFF2-40B4-BE49-F238E27FC236}">
                <a16:creationId xmlns:a16="http://schemas.microsoft.com/office/drawing/2014/main" id="{9B00B881-E7A5-8513-8F2D-B4E6961F4478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F242DD4D-F83A-C232-0DF7-4F9E4C8A479D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8416999" y="6276920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4293096"/>
            <a:ext cx="61266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4149080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1290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5013176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816297"/>
            <a:ext cx="54213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9589" y="2132856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1" name="Can 40">
            <a:extLst>
              <a:ext uri="{FF2B5EF4-FFF2-40B4-BE49-F238E27FC236}">
                <a16:creationId xmlns:a16="http://schemas.microsoft.com/office/drawing/2014/main" id="{72299155-0C96-F7DB-56EA-247745DEDA45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3861048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an 42">
            <a:extLst>
              <a:ext uri="{FF2B5EF4-FFF2-40B4-BE49-F238E27FC236}">
                <a16:creationId xmlns:a16="http://schemas.microsoft.com/office/drawing/2014/main" id="{1A4B3FF6-7DA6-7B67-73A1-37A259E643A1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53842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7" name="Cube 26">
            <a:extLst>
              <a:ext uri="{FF2B5EF4-FFF2-40B4-BE49-F238E27FC236}">
                <a16:creationId xmlns:a16="http://schemas.microsoft.com/office/drawing/2014/main" id="{791B3B77-D984-BCA7-08A7-6C684AAD8909}"/>
              </a:ext>
            </a:extLst>
          </p:cNvPr>
          <p:cNvSpPr/>
          <p:nvPr/>
        </p:nvSpPr>
        <p:spPr bwMode="auto">
          <a:xfrm>
            <a:off x="5953318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89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6320" y="3439758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9078" y="2401143"/>
            <a:ext cx="10131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36E2297F-3215-B168-BAC9-496B869C99A0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53">
            <a:extLst>
              <a:ext uri="{FF2B5EF4-FFF2-40B4-BE49-F238E27FC236}">
                <a16:creationId xmlns:a16="http://schemas.microsoft.com/office/drawing/2014/main" id="{9B00B881-E7A5-8513-8F2D-B4E6961F4478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Cube 27">
            <a:extLst>
              <a:ext uri="{FF2B5EF4-FFF2-40B4-BE49-F238E27FC236}">
                <a16:creationId xmlns:a16="http://schemas.microsoft.com/office/drawing/2014/main" id="{E944B7E8-777B-5E32-4B4B-2BDF22A6CBB3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B128C0FD-79D1-FCE6-FDFF-91D8CF6CB86B}"/>
              </a:ext>
            </a:extLst>
          </p:cNvPr>
          <p:cNvSpPr/>
          <p:nvPr/>
        </p:nvSpPr>
        <p:spPr bwMode="auto">
          <a:xfrm>
            <a:off x="624726" y="2492896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DEF3CD51-7FAF-4DD5-E79B-E80D897F783F}"/>
              </a:ext>
            </a:extLst>
          </p:cNvPr>
          <p:cNvSpPr/>
          <p:nvPr/>
        </p:nvSpPr>
        <p:spPr bwMode="auto">
          <a:xfrm>
            <a:off x="1128782" y="2564904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5157192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4293096"/>
            <a:ext cx="61266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4149080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1290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698" y="5013176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816297"/>
            <a:ext cx="54213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132856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9589" y="2132856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5610" y="2113111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040E1F8D-2F15-9C26-D2F4-50F7431DD571}"/>
              </a:ext>
            </a:extLst>
          </p:cNvPr>
          <p:cNvSpPr/>
          <p:nvPr/>
        </p:nvSpPr>
        <p:spPr bwMode="auto">
          <a:xfrm>
            <a:off x="2784966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0" name="Can 39">
            <a:extLst>
              <a:ext uri="{FF2B5EF4-FFF2-40B4-BE49-F238E27FC236}">
                <a16:creationId xmlns:a16="http://schemas.microsoft.com/office/drawing/2014/main" id="{BED22CE5-DCB8-6ECF-4C5D-CAC41F6152A7}"/>
              </a:ext>
            </a:extLst>
          </p:cNvPr>
          <p:cNvSpPr/>
          <p:nvPr/>
        </p:nvSpPr>
        <p:spPr bwMode="auto">
          <a:xfrm>
            <a:off x="624726" y="4293096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1" name="Can 40">
            <a:extLst>
              <a:ext uri="{FF2B5EF4-FFF2-40B4-BE49-F238E27FC236}">
                <a16:creationId xmlns:a16="http://schemas.microsoft.com/office/drawing/2014/main" id="{72299155-0C96-F7DB-56EA-247745DEDA45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3861048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an 42">
            <a:extLst>
              <a:ext uri="{FF2B5EF4-FFF2-40B4-BE49-F238E27FC236}">
                <a16:creationId xmlns:a16="http://schemas.microsoft.com/office/drawing/2014/main" id="{1A4B3FF6-7DA6-7B67-73A1-37A259E643A1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53842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0710" y="3284984"/>
            <a:ext cx="90922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037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7" name="Cube 26">
            <a:extLst>
              <a:ext uri="{FF2B5EF4-FFF2-40B4-BE49-F238E27FC236}">
                <a16:creationId xmlns:a16="http://schemas.microsoft.com/office/drawing/2014/main" id="{791B3B77-D984-BCA7-08A7-6C684AAD8909}"/>
              </a:ext>
            </a:extLst>
          </p:cNvPr>
          <p:cNvSpPr/>
          <p:nvPr/>
        </p:nvSpPr>
        <p:spPr bwMode="auto">
          <a:xfrm>
            <a:off x="5953318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8" name="Cube 27">
            <a:extLst>
              <a:ext uri="{FF2B5EF4-FFF2-40B4-BE49-F238E27FC236}">
                <a16:creationId xmlns:a16="http://schemas.microsoft.com/office/drawing/2014/main" id="{54189133-DFF0-B772-C37D-07C4991B3374}"/>
              </a:ext>
            </a:extLst>
          </p:cNvPr>
          <p:cNvSpPr/>
          <p:nvPr/>
        </p:nvSpPr>
        <p:spPr bwMode="auto">
          <a:xfrm>
            <a:off x="7537494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33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89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1" name="Can 53">
            <a:extLst>
              <a:ext uri="{FF2B5EF4-FFF2-40B4-BE49-F238E27FC236}">
                <a16:creationId xmlns:a16="http://schemas.microsoft.com/office/drawing/2014/main" id="{8CE6CCBE-9F4B-3326-D325-513090015111}"/>
              </a:ext>
            </a:extLst>
          </p:cNvPr>
          <p:cNvSpPr>
            <a:spLocks noChangeAspect="1"/>
          </p:cNvSpPr>
          <p:nvPr/>
        </p:nvSpPr>
        <p:spPr bwMode="auto">
          <a:xfrm>
            <a:off x="7712268" y="2564904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7825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9462" y="4201343"/>
            <a:ext cx="1426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7534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3433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6320" y="3439758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0496" y="3429000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41801" y="2132856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8822" y="5085184"/>
            <a:ext cx="88517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2" name="Can 64">
            <a:extLst>
              <a:ext uri="{FF2B5EF4-FFF2-40B4-BE49-F238E27FC236}">
                <a16:creationId xmlns:a16="http://schemas.microsoft.com/office/drawing/2014/main" id="{F33A9CD8-83E3-DA78-6740-DA52B68F9D62}"/>
              </a:ext>
            </a:extLst>
          </p:cNvPr>
          <p:cNvSpPr>
            <a:spLocks noChangeAspect="1"/>
          </p:cNvSpPr>
          <p:nvPr/>
        </p:nvSpPr>
        <p:spPr bwMode="auto">
          <a:xfrm>
            <a:off x="1632838" y="4653136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00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8782" y="4581128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92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B917E564-7A3C-1DD1-2C40-39DCE2B6531F}"/>
              </a:ext>
            </a:extLst>
          </p:cNvPr>
          <p:cNvSpPr/>
          <p:nvPr/>
        </p:nvSpPr>
        <p:spPr bwMode="auto">
          <a:xfrm>
            <a:off x="4369142" y="3356992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FF1C8608-4BF6-0E55-ED5E-836878D88CC8}"/>
              </a:ext>
            </a:extLst>
          </p:cNvPr>
          <p:cNvSpPr/>
          <p:nvPr/>
        </p:nvSpPr>
        <p:spPr bwMode="auto">
          <a:xfrm>
            <a:off x="768742" y="2780928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73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9078" y="2401143"/>
            <a:ext cx="10131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768" y="2420888"/>
            <a:ext cx="1398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2077767"/>
                <a:ext cx="7920432" cy="16976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6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6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2077767"/>
                <a:ext cx="7920432" cy="1697644"/>
              </a:xfrm>
              <a:prstGeom prst="rect">
                <a:avLst/>
              </a:prstGeom>
              <a:blipFill>
                <a:blip r:embed="rId3"/>
                <a:stretch>
                  <a:fillRect l="-847" t="-7554" b="-388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52" name="Text Box 376">
            <a:extLst>
              <a:ext uri="{FF2B5EF4-FFF2-40B4-BE49-F238E27FC236}">
                <a16:creationId xmlns:a16="http://schemas.microsoft.com/office/drawing/2014/main" id="{3050C463-7E2A-1339-FF04-3CA3C1213E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3985245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3" name="Text Box 13">
                <a:extLst>
                  <a:ext uri="{FF2B5EF4-FFF2-40B4-BE49-F238E27FC236}">
                    <a16:creationId xmlns:a16="http://schemas.microsoft.com/office/drawing/2014/main" id="{B9D80B17-927C-FFBA-E4FC-DA57792B2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01DDF64A-7AFF-99C4-D7D9-25DE1672AA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236471"/>
              </p:ext>
            </p:extLst>
          </p:nvPr>
        </p:nvGraphicFramePr>
        <p:xfrm>
          <a:off x="4572314" y="4506069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11709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Curva de ROC (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Receiver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Operating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Characteristics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988840"/>
            <a:ext cx="4114800" cy="411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6659153" y="4133545"/>
            <a:ext cx="3619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3FF8CBA6-44D3-E48F-7974-13295FF83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2138477"/>
            <a:ext cx="7920432" cy="861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Trade-off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:</a:t>
            </a:r>
          </a:p>
          <a:p>
            <a:pPr algn="just"/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Sensitivity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vs.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Specificity</a:t>
            </a:r>
            <a:endParaRPr lang="pt-PT" sz="2000" dirty="0">
              <a:solidFill>
                <a:schemeClr val="tx1"/>
              </a:solidFill>
              <a:latin typeface="Humnst777 B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6" name="Text Box 13">
                <a:extLst>
                  <a:ext uri="{FF2B5EF4-FFF2-40B4-BE49-F238E27FC236}">
                    <a16:creationId xmlns:a16="http://schemas.microsoft.com/office/drawing/2014/main" id="{A74B1FF7-9489-83BD-B2C2-2EEBE8947A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9552" y="4508593"/>
                <a:ext cx="8136906" cy="1477328"/>
              </a:xfrm>
              <a:prstGeom prst="rect">
                <a:avLst/>
              </a:prstGeom>
              <a:blipFill>
                <a:blip r:embed="rId4"/>
                <a:stretch>
                  <a:fillRect l="-825" t="-11157" b="-4793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682625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540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28.08.2025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13.12.2025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|DSR-II2025_slides_20250828.pptx      #slides [v2025-08-28]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|DSR-II2025_slides_20251213.pptx      #slides [v2025-12-13]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682625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540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7775575" y="946150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2771775" y="404813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540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39552" y="1506792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625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63034</TotalTime>
  <Words>3053</Words>
  <Application>Microsoft Office PowerPoint</Application>
  <PresentationFormat>On-screen Show (4:3)</PresentationFormat>
  <Paragraphs>526</Paragraphs>
  <Slides>43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Arial</vt:lpstr>
      <vt:lpstr>Calibri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2936</cp:revision>
  <dcterms:created xsi:type="dcterms:W3CDTF">2004-01-14T16:14:16Z</dcterms:created>
  <dcterms:modified xsi:type="dcterms:W3CDTF">2025-09-08T15:12:49Z</dcterms:modified>
</cp:coreProperties>
</file>